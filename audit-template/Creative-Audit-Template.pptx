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55d3f7a-ede4-202a-b106-ce3306db045a}">
          <p14:sldIdLst>
            <p14:sldId id="256"/>
          </p14:sldIdLst>
        </p14:section>
        <p14:section name="Summary" id="{410fc97b-173c-be12-36b8-3ee98d42ed0e}">
          <p14:sldIdLst>
            <p14:sldId id="257"/>
          </p14:sldIdLst>
        </p14:section>
        <p14:section name="Reputation" id="{e7419bfe-22a6-a980-1b73-e6c08f95fa11}">
          <p14:sldIdLst>
            <p14:sldId id="258"/>
            <p14:sldId id="259"/>
          </p14:sldIdLst>
        </p14:section>
        <p14:section name="Creative audit" id="{b96a7301-6340-1683-6abe-4da50a85a54d}">
          <p14:sldIdLst>
            <p14:sldId id="260"/>
            <p14:sldId id="261"/>
            <p14:sldId id="262"/>
          </p14:sldIdLst>
        </p14:section>
        <p14:section name="Competitors" id="{d2c66e63-6a70-e6d4-2c60-df2d43b73d03}">
          <p14:sldIdLst>
            <p14:sldId id="263"/>
          </p14:sldIdLst>
        </p14:section>
        <p14:section name="Recommendations" id="{d1f4888d-d63c-5b52-1260-d6f39df4cf2a}">
          <p14:sldIdLst>
            <p14:sldId id="264"/>
            <p14:sldId id="265"/>
            <p14:sldId id="266"/>
            <p14:sldId id="267"/>
          </p14:sldIdLst>
        </p14:section>
        <p14:section name="Close" id="{fd5a803c-0207-658c-a66f-e91c26ec19c9}">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[Brand Name], [Month Year] and [Your Name]. Keep the title short. This deck is built only from public data (Meta Ad Library, Foreplay, reviews, social). Never add metrics you can't see, like hook rate or ROAS.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Many founders only read this one. Example: 'Your 6 longest-running ads all use one angle (hot flashes). Meta now groups similar ads, so you're testing one idea six times. Test 2 new angles: sleep and weight.' Be specific to this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signature step. Walk the path a buyer takes before buying: Google the brand, check TikTok/IG, read reviews and Reddit. Common threads? Celebrity or press focus? Red flags (bad reviews, refund complaints)? Proof that could go straight into 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quotes word for word, no editing. Pick the ones that show a feeling, a before/after, or an objection. These are your hooks.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these in the Meta Ad Library, Foreplay or Parker: sort active ads by launch date, oldest first. Count how many are active and how often they launch. Write 'likely winners', never 'top performers'.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their active ads by idea. Ads that change only a color, caption or headline over the same visual count as ONE concept. Most brands score low here, which is an easy opening for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Targeting is mostly broad now, so the creative decides who sees the ad. Infer personas from the ads, reviews and comments, and say so. For ads shown in the EU, the Ad Library's 'EU transparency' section shows age/gender reach. Use it if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competitors running ads now. Focus on what they do that this brand doesn't: formats, angles, creators, offers. Duplicate this slide if you need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brand and its competitors together. Keep each cell to one or two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concept must be a DIFFERENT idea (new angle, persona or format), not a new hook on an existing ad. Tie each one back to evidence from the earlier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one concept in full so they can see your scripting. Keep the other two as concepts: that's the reason to hire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Use for supplement, menopause and other health brands. Delete for others. Rules change, so check Meta's current health ad policy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your proof numbers true. Change the next step if you prefer a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65760"/>
          </a:xfrm>
          <a:prstGeom prst="rect">
            <a:avLst/>
          </a:prstGeom>
          <a:noFill/>
          <a:ln/>
        </p:spPr>
        <p:txBody>
          <a:bodyPr wrap="square" rtlCol="0"/>
          <a:lstStyle>
            <a:lvl1pPr indent="0" marL="0">
              <a:buNone/>
              <a:defRPr lang="en-US" sz="1400" b="1" spc="2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1554480"/>
            <a:ext cx="804672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108960"/>
            <a:ext cx="8046720" cy="109728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4"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chemeClr val="accent5"/>
                </a:solidFill>
              </a:rPr>
              <a:t>Prepared by [Your Name]  ·  Creative Strategist</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804672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868680"/>
            <a:ext cx="8046720"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65760"/>
          </a:xfrm>
          <a:prstGeom prst="rect">
            <a:avLst/>
          </a:prstGeom>
          <a:noFill/>
          <a:ln/>
        </p:spPr>
        <p:txBody>
          <a:bodyPr wrap="square" rtlCol="0"/>
          <a:lstStyle/>
          <a:p>
            <a:pPr indent="0" marL="0">
              <a:buNone/>
            </a:pPr>
            <a:r>
              <a:rPr lang="en-US" sz="1400" b="1" spc="200" kern="0" dirty="0">
                <a:solidFill>
                  <a:schemeClr val="accent1"/>
                </a:solidFill>
              </a:rPr>
              <a:t>CREATIVE AUDIT</a:t>
            </a:r>
            <a:endParaRPr lang="en-US" sz="1400" dirty="0"/>
          </a:p>
        </p:txBody>
      </p:sp>
      <p:sp>
        <p:nvSpPr>
          <p:cNvPr id="3" name="Text 0"/>
          <p:cNvSpPr/>
          <p:nvPr>
            <p:ph idx="101" type="title" hasCustomPrompt="1"/>
          </p:nvPr>
        </p:nvSpPr>
        <p:spPr>
          <a:xfrm>
            <a:off x="548640" y="1554480"/>
            <a:ext cx="8046720" cy="1371600"/>
          </a:xfrm>
          <a:prstGeom prst="rect">
            <a:avLst/>
          </a:prstGeom>
          <a:noFill/>
          <a:ln/>
        </p:spPr>
        <p:txBody>
          <a:bodyPr wrap="square" rtlCol="0" anchor="t"/>
          <a:lstStyle/>
          <a:p>
            <a:pPr algn="l" indent="0" marL="0">
              <a:buNone/>
            </a:pPr>
            <a:r>
              <a:rPr lang="en-US" sz="4000" b="1" dirty="0">
                <a:solidFill>
                  <a:schemeClr val="bg1"/>
                </a:solidFill>
              </a:rPr>
              <a:t>[Brand Name]: Creative Opportunities</a:t>
            </a:r>
            <a:endParaRPr lang="en-US" sz="4000" dirty="0"/>
          </a:p>
        </p:txBody>
      </p:sp>
      <p:sp>
        <p:nvSpPr>
          <p:cNvPr id="4" name="Text 0"/>
          <p:cNvSpPr/>
          <p:nvPr>
            <p:ph idx="102" type="body" hasCustomPrompt="1"/>
          </p:nvPr>
        </p:nvSpPr>
        <p:spPr>
          <a:xfrm>
            <a:off x="548640" y="3108960"/>
            <a:ext cx="8046720" cy="1097280"/>
          </a:xfrm>
          <a:prstGeom prst="rect">
            <a:avLst/>
          </a:prstGeom>
          <a:noFill/>
          <a:ln/>
        </p:spPr>
        <p:txBody>
          <a:bodyPr wrap="square" rtlCol="0" anchor="t"/>
          <a:lstStyle/>
          <a:p>
            <a:pPr indent="0" marL="0">
              <a:buNone/>
            </a:pPr>
            <a:r>
              <a:rPr lang="en-US" sz="1600" dirty="0">
                <a:solidFill>
                  <a:schemeClr val="accent5"/>
                </a:solidFill>
              </a:rPr>
              <a:t>[Month Year]</a:t>
            </a:r>
            <a:endParaRPr lang="en-US" sz="1600" dirty="0"/>
          </a:p>
          <a:p>
            <a:pPr indent="0" marL="0">
              <a:buNone/>
            </a:pPr>
            <a:r>
              <a:rPr lang="en-US" sz="1600" dirty="0">
                <a:solidFill>
                  <a:schemeClr val="accent5"/>
                </a:solidFill>
              </a:rPr>
              <a:t>Prepared by [Your Name], Creative Strategist &amp; 7-Figure Direct-Response Ad Scriptwriter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74320"/>
          </a:xfrm>
          <a:prstGeom prst="rect">
            <a:avLst/>
          </a:prstGeom>
          <a:noFill/>
          <a:ln/>
        </p:spPr>
        <p:txBody>
          <a:bodyPr wrap="square" lIns="0" tIns="0" rIns="0" bIns="0" rtlCol="0"/>
          <a:lstStyle/>
          <a:p>
            <a:pPr indent="0" marL="0">
              <a:buNone/>
            </a:pPr>
            <a:r>
              <a:rPr lang="en-US" sz="1100" b="1" spc="200" kern="0" dirty="0">
                <a:solidFill>
                  <a:schemeClr val="accent1"/>
                </a:solidFill>
              </a:rPr>
              <a:t>EXECUTIVE SUMMARY</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The 3 biggest opportunities I found</a:t>
            </a:r>
            <a:endParaRPr lang="en-US" sz="2600" dirty="0"/>
          </a:p>
        </p:txBody>
      </p:sp>
      <p:sp>
        <p:nvSpPr>
          <p:cNvPr id="4" name="Opportunity 1 card"/>
          <p:cNvSpPr/>
          <p:nvPr/>
        </p:nvSpPr>
        <p:spPr>
          <a:xfrm>
            <a:off x="457200" y="1325880"/>
            <a:ext cx="2606040" cy="3154680"/>
          </a:xfrm>
          <a:prstGeom prst="roundRect">
            <a:avLst>
              <a:gd name="adj" fmla="val 2807"/>
            </a:avLst>
          </a:prstGeom>
          <a:solidFill>
            <a:schemeClr val="bg2"/>
          </a:solidFill>
          <a:ln w="12700">
            <a:solidFill>
              <a:schemeClr val="bg2"/>
            </a:solidFill>
            <a:prstDash val="solid"/>
          </a:ln>
        </p:spPr>
      </p:sp>
      <p:sp>
        <p:nvSpPr>
          <p:cNvPr id="5" name="Opportunity 1 dot"/>
          <p:cNvSpPr/>
          <p:nvPr/>
        </p:nvSpPr>
        <p:spPr>
          <a:xfrm>
            <a:off x="685800" y="1554480"/>
            <a:ext cx="384048" cy="384048"/>
          </a:xfrm>
          <a:prstGeom prst="ellipse">
            <a:avLst/>
          </a:prstGeom>
          <a:solidFill>
            <a:schemeClr val="accent1"/>
          </a:solidFill>
          <a:ln w="12700">
            <a:solidFill>
              <a:schemeClr val="accent1"/>
            </a:solidFill>
            <a:prstDash val="solid"/>
          </a:ln>
        </p:spPr>
      </p:sp>
      <p:sp>
        <p:nvSpPr>
          <p:cNvPr id="6" name="Opportunity 1 dot number"/>
          <p:cNvSpPr txBox="1"/>
          <p:nvPr/>
        </p:nvSpPr>
        <p:spPr>
          <a:xfrm>
            <a:off x="685800" y="1554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Opportunity 1 headline"/>
          <p:cNvSpPr txBox="1"/>
          <p:nvPr/>
        </p:nvSpPr>
        <p:spPr>
          <a:xfrm>
            <a:off x="685800" y="2103120"/>
            <a:ext cx="2148840" cy="731520"/>
          </a:xfrm>
          <a:prstGeom prst="rect">
            <a:avLst/>
          </a:prstGeom>
          <a:noFill/>
          <a:ln/>
        </p:spPr>
        <p:txBody>
          <a:bodyPr wrap="square" lIns="0" tIns="0" rIns="0" bIns="0" rtlCol="0" anchor="t"/>
          <a:lstStyle/>
          <a:p>
            <a:pPr indent="0" marL="0">
              <a:buNone/>
            </a:pPr>
            <a:r>
              <a:rPr lang="en-US" sz="1600" b="1" dirty="0">
                <a:solidFill>
                  <a:schemeClr val="tx1"/>
                </a:solidFill>
              </a:rPr>
              <a:t>[Opportunity 1 in one line]</a:t>
            </a:r>
            <a:endParaRPr lang="en-US" sz="1600" dirty="0"/>
          </a:p>
        </p:txBody>
      </p:sp>
      <p:sp>
        <p:nvSpPr>
          <p:cNvPr id="8" name="Opportunity 1 detail"/>
          <p:cNvSpPr txBox="1"/>
          <p:nvPr/>
        </p:nvSpPr>
        <p:spPr>
          <a:xfrm>
            <a:off x="685800" y="2926080"/>
            <a:ext cx="2148840" cy="1371600"/>
          </a:xfrm>
          <a:prstGeom prst="rect">
            <a:avLst/>
          </a:prstGeom>
          <a:noFill/>
          <a:ln/>
        </p:spPr>
        <p:txBody>
          <a:bodyPr wrap="square" lIns="0" tIns="0" rIns="0" bIns="0" rtlCol="0" anchor="t"/>
          <a:lstStyle/>
          <a:p>
            <a:pPr indent="0" marL="0">
              <a:buNone/>
            </a:pPr>
            <a:r>
              <a:rPr lang="en-US" sz="1200" dirty="0">
                <a:solidFill>
                  <a:schemeClr val="tx2"/>
                </a:solidFill>
              </a:rPr>
              <a:t>[What you saw → why it matters → what to test. 2–3 short lines.]</a:t>
            </a:r>
            <a:endParaRPr lang="en-US" sz="1200" dirty="0"/>
          </a:p>
        </p:txBody>
      </p:sp>
      <p:sp>
        <p:nvSpPr>
          <p:cNvPr id="9" name="Opportunity 2 card"/>
          <p:cNvSpPr/>
          <p:nvPr/>
        </p:nvSpPr>
        <p:spPr>
          <a:xfrm>
            <a:off x="3268980" y="1325880"/>
            <a:ext cx="2606040" cy="3154680"/>
          </a:xfrm>
          <a:prstGeom prst="roundRect">
            <a:avLst>
              <a:gd name="adj" fmla="val 2807"/>
            </a:avLst>
          </a:prstGeom>
          <a:solidFill>
            <a:schemeClr val="bg2"/>
          </a:solidFill>
          <a:ln w="12700">
            <a:solidFill>
              <a:schemeClr val="bg2"/>
            </a:solidFill>
            <a:prstDash val="solid"/>
          </a:ln>
        </p:spPr>
      </p:sp>
      <p:sp>
        <p:nvSpPr>
          <p:cNvPr id="10" name="Opportunity 2 dot"/>
          <p:cNvSpPr/>
          <p:nvPr/>
        </p:nvSpPr>
        <p:spPr>
          <a:xfrm>
            <a:off x="3497580" y="1554480"/>
            <a:ext cx="384048" cy="384048"/>
          </a:xfrm>
          <a:prstGeom prst="ellipse">
            <a:avLst/>
          </a:prstGeom>
          <a:solidFill>
            <a:schemeClr val="accent1"/>
          </a:solidFill>
          <a:ln w="12700">
            <a:solidFill>
              <a:schemeClr val="accent1"/>
            </a:solidFill>
            <a:prstDash val="solid"/>
          </a:ln>
        </p:spPr>
      </p:sp>
      <p:sp>
        <p:nvSpPr>
          <p:cNvPr id="11" name="Opportunity 2 dot number"/>
          <p:cNvSpPr txBox="1"/>
          <p:nvPr/>
        </p:nvSpPr>
        <p:spPr>
          <a:xfrm>
            <a:off x="3497580" y="1554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Opportunity 2 headline"/>
          <p:cNvSpPr txBox="1"/>
          <p:nvPr/>
        </p:nvSpPr>
        <p:spPr>
          <a:xfrm>
            <a:off x="3497580" y="2103120"/>
            <a:ext cx="2148840" cy="731520"/>
          </a:xfrm>
          <a:prstGeom prst="rect">
            <a:avLst/>
          </a:prstGeom>
          <a:noFill/>
          <a:ln/>
        </p:spPr>
        <p:txBody>
          <a:bodyPr wrap="square" lIns="0" tIns="0" rIns="0" bIns="0" rtlCol="0" anchor="t"/>
          <a:lstStyle/>
          <a:p>
            <a:pPr indent="0" marL="0">
              <a:buNone/>
            </a:pPr>
            <a:r>
              <a:rPr lang="en-US" sz="1600" b="1" dirty="0">
                <a:solidFill>
                  <a:schemeClr val="tx1"/>
                </a:solidFill>
              </a:rPr>
              <a:t>[Opportunity 2 in one line]</a:t>
            </a:r>
            <a:endParaRPr lang="en-US" sz="1600" dirty="0"/>
          </a:p>
        </p:txBody>
      </p:sp>
      <p:sp>
        <p:nvSpPr>
          <p:cNvPr id="13" name="Opportunity 2 detail"/>
          <p:cNvSpPr txBox="1"/>
          <p:nvPr/>
        </p:nvSpPr>
        <p:spPr>
          <a:xfrm>
            <a:off x="3497580" y="2926080"/>
            <a:ext cx="2148840" cy="1371600"/>
          </a:xfrm>
          <a:prstGeom prst="rect">
            <a:avLst/>
          </a:prstGeom>
          <a:noFill/>
          <a:ln/>
        </p:spPr>
        <p:txBody>
          <a:bodyPr wrap="square" lIns="0" tIns="0" rIns="0" bIns="0" rtlCol="0" anchor="t"/>
          <a:lstStyle/>
          <a:p>
            <a:pPr indent="0" marL="0">
              <a:buNone/>
            </a:pPr>
            <a:r>
              <a:rPr lang="en-US" sz="1200" dirty="0">
                <a:solidFill>
                  <a:schemeClr val="tx2"/>
                </a:solidFill>
              </a:rPr>
              <a:t>[What you saw → why it matters → what to test. 2–3 short lines.]</a:t>
            </a:r>
            <a:endParaRPr lang="en-US" sz="1200" dirty="0"/>
          </a:p>
        </p:txBody>
      </p:sp>
      <p:sp>
        <p:nvSpPr>
          <p:cNvPr id="14" name="Opportunity 3 card"/>
          <p:cNvSpPr/>
          <p:nvPr/>
        </p:nvSpPr>
        <p:spPr>
          <a:xfrm>
            <a:off x="6080760" y="1325880"/>
            <a:ext cx="2606040" cy="3154680"/>
          </a:xfrm>
          <a:prstGeom prst="roundRect">
            <a:avLst>
              <a:gd name="adj" fmla="val 2807"/>
            </a:avLst>
          </a:prstGeom>
          <a:solidFill>
            <a:schemeClr val="bg2"/>
          </a:solidFill>
          <a:ln w="12700">
            <a:solidFill>
              <a:schemeClr val="bg2"/>
            </a:solidFill>
            <a:prstDash val="solid"/>
          </a:ln>
        </p:spPr>
      </p:sp>
      <p:sp>
        <p:nvSpPr>
          <p:cNvPr id="15" name="Opportunity 3 dot"/>
          <p:cNvSpPr/>
          <p:nvPr/>
        </p:nvSpPr>
        <p:spPr>
          <a:xfrm>
            <a:off x="6309360" y="1554480"/>
            <a:ext cx="384048" cy="384048"/>
          </a:xfrm>
          <a:prstGeom prst="ellipse">
            <a:avLst/>
          </a:prstGeom>
          <a:solidFill>
            <a:schemeClr val="accent1"/>
          </a:solidFill>
          <a:ln w="12700">
            <a:solidFill>
              <a:schemeClr val="accent1"/>
            </a:solidFill>
            <a:prstDash val="solid"/>
          </a:ln>
        </p:spPr>
      </p:sp>
      <p:sp>
        <p:nvSpPr>
          <p:cNvPr id="16" name="Opportunity 3 dot number"/>
          <p:cNvSpPr txBox="1"/>
          <p:nvPr/>
        </p:nvSpPr>
        <p:spPr>
          <a:xfrm>
            <a:off x="6309360" y="1554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Opportunity 3 headline"/>
          <p:cNvSpPr txBox="1"/>
          <p:nvPr/>
        </p:nvSpPr>
        <p:spPr>
          <a:xfrm>
            <a:off x="6309360" y="2103120"/>
            <a:ext cx="2148840" cy="731520"/>
          </a:xfrm>
          <a:prstGeom prst="rect">
            <a:avLst/>
          </a:prstGeom>
          <a:noFill/>
          <a:ln/>
        </p:spPr>
        <p:txBody>
          <a:bodyPr wrap="square" lIns="0" tIns="0" rIns="0" bIns="0" rtlCol="0" anchor="t"/>
          <a:lstStyle/>
          <a:p>
            <a:pPr indent="0" marL="0">
              <a:buNone/>
            </a:pPr>
            <a:r>
              <a:rPr lang="en-US" sz="1600" b="1" dirty="0">
                <a:solidFill>
                  <a:schemeClr val="tx1"/>
                </a:solidFill>
              </a:rPr>
              <a:t>[Opportunity 3 in one line]</a:t>
            </a:r>
            <a:endParaRPr lang="en-US" sz="1600" dirty="0"/>
          </a:p>
        </p:txBody>
      </p:sp>
      <p:sp>
        <p:nvSpPr>
          <p:cNvPr id="18" name="Opportunity 3 detail"/>
          <p:cNvSpPr txBox="1"/>
          <p:nvPr/>
        </p:nvSpPr>
        <p:spPr>
          <a:xfrm>
            <a:off x="6309360" y="2926080"/>
            <a:ext cx="2148840" cy="1371600"/>
          </a:xfrm>
          <a:prstGeom prst="rect">
            <a:avLst/>
          </a:prstGeom>
          <a:noFill/>
          <a:ln/>
        </p:spPr>
        <p:txBody>
          <a:bodyPr wrap="square" lIns="0" tIns="0" rIns="0" bIns="0" rtlCol="0" anchor="t"/>
          <a:lstStyle/>
          <a:p>
            <a:pPr indent="0" marL="0">
              <a:buNone/>
            </a:pPr>
            <a:r>
              <a:rPr lang="en-US" sz="1200" dirty="0">
                <a:solidFill>
                  <a:schemeClr val="tx2"/>
                </a:solidFill>
              </a:rPr>
              <a:t>[What you saw → why it matters → what to test. 2–3 short lines.]</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74320"/>
          </a:xfrm>
          <a:prstGeom prst="rect">
            <a:avLst/>
          </a:prstGeom>
          <a:noFill/>
          <a:ln/>
        </p:spPr>
        <p:txBody>
          <a:bodyPr wrap="square" lIns="0" tIns="0" rIns="0" bIns="0" rtlCol="0"/>
          <a:lstStyle/>
          <a:p>
            <a:pPr indent="0" marL="0">
              <a:buNone/>
            </a:pPr>
            <a:r>
              <a:rPr lang="en-US" sz="1100" b="1" spc="200" kern="0" dirty="0">
                <a:solidFill>
                  <a:schemeClr val="accent1"/>
                </a:solidFill>
              </a:rPr>
              <a:t>REPUTATION ANALYSIS</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What buyers see before they buy</a:t>
            </a:r>
            <a:endParaRPr lang="en-US" sz="2600" dirty="0"/>
          </a:p>
        </p:txBody>
      </p:sp>
      <p:sp>
        <p:nvSpPr>
          <p:cNvPr id="4" name="Press header"/>
          <p:cNvSpPr txBox="1"/>
          <p:nvPr/>
        </p:nvSpPr>
        <p:spPr>
          <a:xfrm>
            <a:off x="457200" y="1234440"/>
            <a:ext cx="1920240" cy="274320"/>
          </a:xfrm>
          <a:prstGeom prst="rect">
            <a:avLst/>
          </a:prstGeom>
          <a:noFill/>
          <a:ln/>
        </p:spPr>
        <p:txBody>
          <a:bodyPr wrap="square" lIns="0" tIns="0" rIns="0" bIns="0" rtlCol="0" anchor="t"/>
          <a:lstStyle/>
          <a:p>
            <a:pPr indent="0" marL="0">
              <a:buNone/>
            </a:pPr>
            <a:r>
              <a:rPr lang="en-US" sz="1300" b="1" dirty="0">
                <a:solidFill>
                  <a:schemeClr val="tx1"/>
                </a:solidFill>
              </a:rPr>
              <a:t>Press</a:t>
            </a:r>
            <a:endParaRPr lang="en-US" sz="1300" dirty="0"/>
          </a:p>
        </p:txBody>
      </p:sp>
      <p:sp>
        <p:nvSpPr>
          <p:cNvPr id="5" name="Press sub"/>
          <p:cNvSpPr txBox="1"/>
          <p:nvPr/>
        </p:nvSpPr>
        <p:spPr>
          <a:xfrm>
            <a:off x="457200" y="1508760"/>
            <a:ext cx="1920240" cy="274320"/>
          </a:xfrm>
          <a:prstGeom prst="rect">
            <a:avLst/>
          </a:prstGeom>
          <a:noFill/>
          <a:ln/>
        </p:spPr>
        <p:txBody>
          <a:bodyPr wrap="square" lIns="0" tIns="0" rIns="0" bIns="0" rtlCol="0" anchor="t"/>
          <a:lstStyle/>
          <a:p>
            <a:pPr indent="0" marL="0">
              <a:buNone/>
            </a:pPr>
            <a:r>
              <a:rPr lang="en-US" sz="1000" dirty="0">
                <a:solidFill>
                  <a:schemeClr val="accent5"/>
                </a:solidFill>
              </a:rPr>
              <a:t>Notable articles, features, awards</a:t>
            </a:r>
            <a:endParaRPr lang="en-US" sz="1000" dirty="0"/>
          </a:p>
        </p:txBody>
      </p:sp>
      <p:sp>
        <p:nvSpPr>
          <p:cNvPr id="6" name="Press screenshot"/>
          <p:cNvSpPr/>
          <p:nvPr/>
        </p:nvSpPr>
        <p:spPr>
          <a:xfrm>
            <a:off x="457200" y="1828800"/>
            <a:ext cx="1920240" cy="1371600"/>
          </a:xfrm>
          <a:prstGeom prst="roundRect">
            <a:avLst>
              <a:gd name="adj" fmla="val 4000"/>
            </a:avLst>
          </a:prstGeom>
          <a:solidFill>
            <a:schemeClr val="bg1"/>
          </a:solidFill>
          <a:ln w="12700">
            <a:solidFill>
              <a:schemeClr val="accent5"/>
            </a:solidFill>
            <a:prstDash val="dash"/>
          </a:ln>
        </p:spPr>
      </p:sp>
      <p:sp>
        <p:nvSpPr>
          <p:cNvPr id="7" name="Press screenshot label"/>
          <p:cNvSpPr txBox="1"/>
          <p:nvPr/>
        </p:nvSpPr>
        <p:spPr>
          <a:xfrm>
            <a:off x="457200" y="1828800"/>
            <a:ext cx="1920240" cy="1371600"/>
          </a:xfrm>
          <a:prstGeom prst="rect">
            <a:avLst/>
          </a:prstGeom>
          <a:noFill/>
          <a:ln/>
        </p:spPr>
        <p:txBody>
          <a:bodyPr wrap="square" rtlCol="0" anchor="ctr"/>
          <a:lstStyle/>
          <a:p>
            <a:pPr algn="ctr" indent="0" marL="0">
              <a:buNone/>
            </a:pPr>
            <a:r>
              <a:rPr lang="en-US" sz="1000" i="1" dirty="0">
                <a:solidFill>
                  <a:schemeClr val="accent5"/>
                </a:solidFill>
              </a:rPr>
              <a:t>[Paste screenshot]</a:t>
            </a:r>
            <a:endParaRPr lang="en-US" sz="1000" dirty="0"/>
          </a:p>
        </p:txBody>
      </p:sp>
      <p:sp>
        <p:nvSpPr>
          <p:cNvPr id="8" name="Press takeaway"/>
          <p:cNvSpPr txBox="1"/>
          <p:nvPr/>
        </p:nvSpPr>
        <p:spPr>
          <a:xfrm>
            <a:off x="457200" y="3291840"/>
            <a:ext cx="1920240" cy="548640"/>
          </a:xfrm>
          <a:prstGeom prst="rect">
            <a:avLst/>
          </a:prstGeom>
          <a:noFill/>
          <a:ln/>
        </p:spPr>
        <p:txBody>
          <a:bodyPr wrap="square" lIns="0" tIns="0" rIns="0" bIns="0" rtlCol="0" anchor="t"/>
          <a:lstStyle/>
          <a:p>
            <a:pPr indent="0" marL="0">
              <a:buNone/>
            </a:pPr>
            <a:r>
              <a:rPr lang="en-US" sz="1100" dirty="0">
                <a:solidFill>
                  <a:schemeClr val="tx2"/>
                </a:solidFill>
              </a:rPr>
              <a:t>[Key takeaway in 1–2 lines]</a:t>
            </a:r>
            <a:endParaRPr lang="en-US" sz="1100" dirty="0"/>
          </a:p>
        </p:txBody>
      </p:sp>
      <p:sp>
        <p:nvSpPr>
          <p:cNvPr id="9" name="Social header"/>
          <p:cNvSpPr txBox="1"/>
          <p:nvPr/>
        </p:nvSpPr>
        <p:spPr>
          <a:xfrm>
            <a:off x="2560320" y="1234440"/>
            <a:ext cx="1920240" cy="274320"/>
          </a:xfrm>
          <a:prstGeom prst="rect">
            <a:avLst/>
          </a:prstGeom>
          <a:noFill/>
          <a:ln/>
        </p:spPr>
        <p:txBody>
          <a:bodyPr wrap="square" lIns="0" tIns="0" rIns="0" bIns="0" rtlCol="0" anchor="t"/>
          <a:lstStyle/>
          <a:p>
            <a:pPr indent="0" marL="0">
              <a:buNone/>
            </a:pPr>
            <a:r>
              <a:rPr lang="en-US" sz="1300" b="1" dirty="0">
                <a:solidFill>
                  <a:schemeClr val="tx1"/>
                </a:solidFill>
              </a:rPr>
              <a:t>Social</a:t>
            </a:r>
            <a:endParaRPr lang="en-US" sz="1300" dirty="0"/>
          </a:p>
        </p:txBody>
      </p:sp>
      <p:sp>
        <p:nvSpPr>
          <p:cNvPr id="10" name="Social sub"/>
          <p:cNvSpPr txBox="1"/>
          <p:nvPr/>
        </p:nvSpPr>
        <p:spPr>
          <a:xfrm>
            <a:off x="2560320" y="1508760"/>
            <a:ext cx="1920240" cy="274320"/>
          </a:xfrm>
          <a:prstGeom prst="rect">
            <a:avLst/>
          </a:prstGeom>
          <a:noFill/>
          <a:ln/>
        </p:spPr>
        <p:txBody>
          <a:bodyPr wrap="square" lIns="0" tIns="0" rIns="0" bIns="0" rtlCol="0" anchor="t"/>
          <a:lstStyle/>
          <a:p>
            <a:pPr indent="0" marL="0">
              <a:buNone/>
            </a:pPr>
            <a:r>
              <a:rPr lang="en-US" sz="1000" dirty="0">
                <a:solidFill>
                  <a:schemeClr val="accent5"/>
                </a:solidFill>
              </a:rPr>
              <a:t>Organic posts &amp; comments</a:t>
            </a:r>
            <a:endParaRPr lang="en-US" sz="1000" dirty="0"/>
          </a:p>
        </p:txBody>
      </p:sp>
      <p:sp>
        <p:nvSpPr>
          <p:cNvPr id="11" name="Social screenshot"/>
          <p:cNvSpPr/>
          <p:nvPr/>
        </p:nvSpPr>
        <p:spPr>
          <a:xfrm>
            <a:off x="2560320" y="1828800"/>
            <a:ext cx="1920240" cy="1371600"/>
          </a:xfrm>
          <a:prstGeom prst="roundRect">
            <a:avLst>
              <a:gd name="adj" fmla="val 4000"/>
            </a:avLst>
          </a:prstGeom>
          <a:solidFill>
            <a:schemeClr val="bg1"/>
          </a:solidFill>
          <a:ln w="12700">
            <a:solidFill>
              <a:schemeClr val="accent5"/>
            </a:solidFill>
            <a:prstDash val="dash"/>
          </a:ln>
        </p:spPr>
      </p:sp>
      <p:sp>
        <p:nvSpPr>
          <p:cNvPr id="12" name="Social screenshot label"/>
          <p:cNvSpPr txBox="1"/>
          <p:nvPr/>
        </p:nvSpPr>
        <p:spPr>
          <a:xfrm>
            <a:off x="2560320" y="1828800"/>
            <a:ext cx="1920240" cy="1371600"/>
          </a:xfrm>
          <a:prstGeom prst="rect">
            <a:avLst/>
          </a:prstGeom>
          <a:noFill/>
          <a:ln/>
        </p:spPr>
        <p:txBody>
          <a:bodyPr wrap="square" rtlCol="0" anchor="ctr"/>
          <a:lstStyle/>
          <a:p>
            <a:pPr algn="ctr" indent="0" marL="0">
              <a:buNone/>
            </a:pPr>
            <a:r>
              <a:rPr lang="en-US" sz="1000" i="1" dirty="0">
                <a:solidFill>
                  <a:schemeClr val="accent5"/>
                </a:solidFill>
              </a:rPr>
              <a:t>[Paste screenshot]</a:t>
            </a:r>
            <a:endParaRPr lang="en-US" sz="1000" dirty="0"/>
          </a:p>
        </p:txBody>
      </p:sp>
      <p:sp>
        <p:nvSpPr>
          <p:cNvPr id="13" name="Social takeaway"/>
          <p:cNvSpPr txBox="1"/>
          <p:nvPr/>
        </p:nvSpPr>
        <p:spPr>
          <a:xfrm>
            <a:off x="2560320" y="3291840"/>
            <a:ext cx="1920240" cy="548640"/>
          </a:xfrm>
          <a:prstGeom prst="rect">
            <a:avLst/>
          </a:prstGeom>
          <a:noFill/>
          <a:ln/>
        </p:spPr>
        <p:txBody>
          <a:bodyPr wrap="square" lIns="0" tIns="0" rIns="0" bIns="0" rtlCol="0" anchor="t"/>
          <a:lstStyle/>
          <a:p>
            <a:pPr indent="0" marL="0">
              <a:buNone/>
            </a:pPr>
            <a:r>
              <a:rPr lang="en-US" sz="1100" dirty="0">
                <a:solidFill>
                  <a:schemeClr val="tx2"/>
                </a:solidFill>
              </a:rPr>
              <a:t>[Key takeaway in 1–2 lines]</a:t>
            </a:r>
            <a:endParaRPr lang="en-US" sz="1100" dirty="0"/>
          </a:p>
        </p:txBody>
      </p:sp>
      <p:sp>
        <p:nvSpPr>
          <p:cNvPr id="14" name="Reddit &amp;amp; review sites header"/>
          <p:cNvSpPr txBox="1"/>
          <p:nvPr/>
        </p:nvSpPr>
        <p:spPr>
          <a:xfrm>
            <a:off x="4663440" y="1234440"/>
            <a:ext cx="1920240" cy="274320"/>
          </a:xfrm>
          <a:prstGeom prst="rect">
            <a:avLst/>
          </a:prstGeom>
          <a:noFill/>
          <a:ln/>
        </p:spPr>
        <p:txBody>
          <a:bodyPr wrap="square" lIns="0" tIns="0" rIns="0" bIns="0" rtlCol="0" anchor="t"/>
          <a:lstStyle/>
          <a:p>
            <a:pPr indent="0" marL="0">
              <a:buNone/>
            </a:pPr>
            <a:r>
              <a:rPr lang="en-US" sz="1300" b="1" dirty="0">
                <a:solidFill>
                  <a:schemeClr val="tx1"/>
                </a:solidFill>
              </a:rPr>
              <a:t>Reddit &amp; review sites</a:t>
            </a:r>
            <a:endParaRPr lang="en-US" sz="1300" dirty="0"/>
          </a:p>
        </p:txBody>
      </p:sp>
      <p:sp>
        <p:nvSpPr>
          <p:cNvPr id="15" name="Reddit &amp;amp; review sites sub"/>
          <p:cNvSpPr txBox="1"/>
          <p:nvPr/>
        </p:nvSpPr>
        <p:spPr>
          <a:xfrm>
            <a:off x="4663440" y="1508760"/>
            <a:ext cx="1920240" cy="274320"/>
          </a:xfrm>
          <a:prstGeom prst="rect">
            <a:avLst/>
          </a:prstGeom>
          <a:noFill/>
          <a:ln/>
        </p:spPr>
        <p:txBody>
          <a:bodyPr wrap="square" lIns="0" tIns="0" rIns="0" bIns="0" rtlCol="0" anchor="t"/>
          <a:lstStyle/>
          <a:p>
            <a:pPr indent="0" marL="0">
              <a:buNone/>
            </a:pPr>
            <a:r>
              <a:rPr lang="en-US" sz="1000" dirty="0">
                <a:solidFill>
                  <a:schemeClr val="accent5"/>
                </a:solidFill>
              </a:rPr>
              <a:t>Threads, Trustpilot, forums</a:t>
            </a:r>
            <a:endParaRPr lang="en-US" sz="1000" dirty="0"/>
          </a:p>
        </p:txBody>
      </p:sp>
      <p:sp>
        <p:nvSpPr>
          <p:cNvPr id="16" name="Reddit &amp; review sites screenshot"/>
          <p:cNvSpPr/>
          <p:nvPr/>
        </p:nvSpPr>
        <p:spPr>
          <a:xfrm>
            <a:off x="4663440" y="1828800"/>
            <a:ext cx="1920240" cy="1371600"/>
          </a:xfrm>
          <a:prstGeom prst="roundRect">
            <a:avLst>
              <a:gd name="adj" fmla="val 4000"/>
            </a:avLst>
          </a:prstGeom>
          <a:solidFill>
            <a:schemeClr val="bg1"/>
          </a:solidFill>
          <a:ln w="12700">
            <a:solidFill>
              <a:schemeClr val="accent5"/>
            </a:solidFill>
            <a:prstDash val="dash"/>
          </a:ln>
        </p:spPr>
      </p:sp>
      <p:sp>
        <p:nvSpPr>
          <p:cNvPr id="17" name="Reddit &amp;amp; review sites screenshot label"/>
          <p:cNvSpPr txBox="1"/>
          <p:nvPr/>
        </p:nvSpPr>
        <p:spPr>
          <a:xfrm>
            <a:off x="4663440" y="1828800"/>
            <a:ext cx="1920240" cy="1371600"/>
          </a:xfrm>
          <a:prstGeom prst="rect">
            <a:avLst/>
          </a:prstGeom>
          <a:noFill/>
          <a:ln/>
        </p:spPr>
        <p:txBody>
          <a:bodyPr wrap="square" rtlCol="0" anchor="ctr"/>
          <a:lstStyle/>
          <a:p>
            <a:pPr algn="ctr" indent="0" marL="0">
              <a:buNone/>
            </a:pPr>
            <a:r>
              <a:rPr lang="en-US" sz="1000" i="1" dirty="0">
                <a:solidFill>
                  <a:schemeClr val="accent5"/>
                </a:solidFill>
              </a:rPr>
              <a:t>[Paste screenshot]</a:t>
            </a:r>
            <a:endParaRPr lang="en-US" sz="1000" dirty="0"/>
          </a:p>
        </p:txBody>
      </p:sp>
      <p:sp>
        <p:nvSpPr>
          <p:cNvPr id="18" name="Reddit &amp;amp; review sites takeaway"/>
          <p:cNvSpPr txBox="1"/>
          <p:nvPr/>
        </p:nvSpPr>
        <p:spPr>
          <a:xfrm>
            <a:off x="4663440" y="3291840"/>
            <a:ext cx="1920240" cy="548640"/>
          </a:xfrm>
          <a:prstGeom prst="rect">
            <a:avLst/>
          </a:prstGeom>
          <a:noFill/>
          <a:ln/>
        </p:spPr>
        <p:txBody>
          <a:bodyPr wrap="square" lIns="0" tIns="0" rIns="0" bIns="0" rtlCol="0" anchor="t"/>
          <a:lstStyle/>
          <a:p>
            <a:pPr indent="0" marL="0">
              <a:buNone/>
            </a:pPr>
            <a:r>
              <a:rPr lang="en-US" sz="1100" dirty="0">
                <a:solidFill>
                  <a:schemeClr val="tx2"/>
                </a:solidFill>
              </a:rPr>
              <a:t>[Key takeaway in 1–2 lines]</a:t>
            </a:r>
            <a:endParaRPr lang="en-US" sz="1100" dirty="0"/>
          </a:p>
        </p:txBody>
      </p:sp>
      <p:sp>
        <p:nvSpPr>
          <p:cNvPr id="19" name="Customer reviews header"/>
          <p:cNvSpPr txBox="1"/>
          <p:nvPr/>
        </p:nvSpPr>
        <p:spPr>
          <a:xfrm>
            <a:off x="6766560" y="1234440"/>
            <a:ext cx="1920240" cy="274320"/>
          </a:xfrm>
          <a:prstGeom prst="rect">
            <a:avLst/>
          </a:prstGeom>
          <a:noFill/>
          <a:ln/>
        </p:spPr>
        <p:txBody>
          <a:bodyPr wrap="square" lIns="0" tIns="0" rIns="0" bIns="0" rtlCol="0" anchor="t"/>
          <a:lstStyle/>
          <a:p>
            <a:pPr indent="0" marL="0">
              <a:buNone/>
            </a:pPr>
            <a:r>
              <a:rPr lang="en-US" sz="1300" b="1" dirty="0">
                <a:solidFill>
                  <a:schemeClr val="tx1"/>
                </a:solidFill>
              </a:rPr>
              <a:t>Customer reviews</a:t>
            </a:r>
            <a:endParaRPr lang="en-US" sz="1300" dirty="0"/>
          </a:p>
        </p:txBody>
      </p:sp>
      <p:sp>
        <p:nvSpPr>
          <p:cNvPr id="20" name="Customer reviews sub"/>
          <p:cNvSpPr txBox="1"/>
          <p:nvPr/>
        </p:nvSpPr>
        <p:spPr>
          <a:xfrm>
            <a:off x="6766560" y="1508760"/>
            <a:ext cx="1920240" cy="274320"/>
          </a:xfrm>
          <a:prstGeom prst="rect">
            <a:avLst/>
          </a:prstGeom>
          <a:noFill/>
          <a:ln/>
        </p:spPr>
        <p:txBody>
          <a:bodyPr wrap="square" lIns="0" tIns="0" rIns="0" bIns="0" rtlCol="0" anchor="t"/>
          <a:lstStyle/>
          <a:p>
            <a:pPr indent="0" marL="0">
              <a:buNone/>
            </a:pPr>
            <a:r>
              <a:rPr lang="en-US" sz="1000" dirty="0">
                <a:solidFill>
                  <a:schemeClr val="accent5"/>
                </a:solidFill>
              </a:rPr>
              <a:t>Site, Amazon, retailers</a:t>
            </a:r>
            <a:endParaRPr lang="en-US" sz="1000" dirty="0"/>
          </a:p>
        </p:txBody>
      </p:sp>
      <p:sp>
        <p:nvSpPr>
          <p:cNvPr id="21" name="Customer reviews screenshot"/>
          <p:cNvSpPr/>
          <p:nvPr/>
        </p:nvSpPr>
        <p:spPr>
          <a:xfrm>
            <a:off x="6766560" y="1828800"/>
            <a:ext cx="1920240" cy="1371600"/>
          </a:xfrm>
          <a:prstGeom prst="roundRect">
            <a:avLst>
              <a:gd name="adj" fmla="val 4000"/>
            </a:avLst>
          </a:prstGeom>
          <a:solidFill>
            <a:schemeClr val="bg1"/>
          </a:solidFill>
          <a:ln w="12700">
            <a:solidFill>
              <a:schemeClr val="accent5"/>
            </a:solidFill>
            <a:prstDash val="dash"/>
          </a:ln>
        </p:spPr>
      </p:sp>
      <p:sp>
        <p:nvSpPr>
          <p:cNvPr id="22" name="Customer reviews screenshot label"/>
          <p:cNvSpPr txBox="1"/>
          <p:nvPr/>
        </p:nvSpPr>
        <p:spPr>
          <a:xfrm>
            <a:off x="6766560" y="1828800"/>
            <a:ext cx="1920240" cy="1371600"/>
          </a:xfrm>
          <a:prstGeom prst="rect">
            <a:avLst/>
          </a:prstGeom>
          <a:noFill/>
          <a:ln/>
        </p:spPr>
        <p:txBody>
          <a:bodyPr wrap="square" rtlCol="0" anchor="ctr"/>
          <a:lstStyle/>
          <a:p>
            <a:pPr algn="ctr" indent="0" marL="0">
              <a:buNone/>
            </a:pPr>
            <a:r>
              <a:rPr lang="en-US" sz="1000" i="1" dirty="0">
                <a:solidFill>
                  <a:schemeClr val="accent5"/>
                </a:solidFill>
              </a:rPr>
              <a:t>[Paste screenshot]</a:t>
            </a:r>
            <a:endParaRPr lang="en-US" sz="1000" dirty="0"/>
          </a:p>
        </p:txBody>
      </p:sp>
      <p:sp>
        <p:nvSpPr>
          <p:cNvPr id="23" name="Customer reviews takeaway"/>
          <p:cNvSpPr txBox="1"/>
          <p:nvPr/>
        </p:nvSpPr>
        <p:spPr>
          <a:xfrm>
            <a:off x="6766560" y="3291840"/>
            <a:ext cx="1920240" cy="548640"/>
          </a:xfrm>
          <a:prstGeom prst="rect">
            <a:avLst/>
          </a:prstGeom>
          <a:noFill/>
          <a:ln/>
        </p:spPr>
        <p:txBody>
          <a:bodyPr wrap="square" lIns="0" tIns="0" rIns="0" bIns="0" rtlCol="0" anchor="t"/>
          <a:lstStyle/>
          <a:p>
            <a:pPr indent="0" marL="0">
              <a:buNone/>
            </a:pPr>
            <a:r>
              <a:rPr lang="en-US" sz="1100" dirty="0">
                <a:solidFill>
                  <a:schemeClr val="tx2"/>
                </a:solidFill>
              </a:rPr>
              <a:t>[Key takeaway in 1–2 lines]</a:t>
            </a:r>
            <a:endParaRPr lang="en-US" sz="1100" dirty="0"/>
          </a:p>
        </p:txBody>
      </p:sp>
      <p:sp>
        <p:nvSpPr>
          <p:cNvPr id="24" name="Red flags card"/>
          <p:cNvSpPr/>
          <p:nvPr/>
        </p:nvSpPr>
        <p:spPr>
          <a:xfrm>
            <a:off x="457200" y="3931920"/>
            <a:ext cx="4023360" cy="731520"/>
          </a:xfrm>
          <a:prstGeom prst="roundRect">
            <a:avLst>
              <a:gd name="adj" fmla="val 10000"/>
            </a:avLst>
          </a:prstGeom>
          <a:solidFill>
            <a:srgbClr val="F1F2F7"/>
          </a:solidFill>
          <a:ln w="12700">
            <a:solidFill>
              <a:srgbClr val="F1F2F7"/>
            </a:solidFill>
            <a:prstDash val="solid"/>
          </a:ln>
        </p:spPr>
      </p:sp>
      <p:sp>
        <p:nvSpPr>
          <p:cNvPr id="25" name="Red flags"/>
          <p:cNvSpPr txBox="1"/>
          <p:nvPr/>
        </p:nvSpPr>
        <p:spPr>
          <a:xfrm>
            <a:off x="640080" y="4023360"/>
            <a:ext cx="3657600" cy="548640"/>
          </a:xfrm>
          <a:prstGeom prst="rect">
            <a:avLst/>
          </a:prstGeom>
          <a:noFill/>
          <a:ln/>
        </p:spPr>
        <p:txBody>
          <a:bodyPr wrap="square" lIns="0" tIns="0" rIns="0" bIns="0" rtlCol="0" anchor="ctr"/>
          <a:lstStyle/>
          <a:p>
            <a:pPr indent="0" marL="0">
              <a:buNone/>
            </a:pPr>
            <a:r>
              <a:rPr lang="en-US" sz="1100" b="1" dirty="0">
                <a:solidFill>
                  <a:schemeClr val="accent4"/>
                </a:solidFill>
              </a:rPr>
              <a:t>Red flags: </a:t>
            </a:r>
            <a:pPr indent="0" marL="0">
              <a:buNone/>
            </a:pPr>
            <a:r>
              <a:rPr lang="en-US" sz="1100" dirty="0">
                <a:solidFill>
                  <a:schemeClr val="tx2"/>
                </a:solidFill>
              </a:rPr>
              <a:t>[What could stop someone from buying?]</a:t>
            </a:r>
            <a:endParaRPr lang="en-US" sz="1100" dirty="0"/>
          </a:p>
        </p:txBody>
      </p:sp>
      <p:sp>
        <p:nvSpPr>
          <p:cNvPr id="26" name="Ad-ready proof card"/>
          <p:cNvSpPr/>
          <p:nvPr/>
        </p:nvSpPr>
        <p:spPr>
          <a:xfrm>
            <a:off x="4663440" y="3931920"/>
            <a:ext cx="4023360" cy="731520"/>
          </a:xfrm>
          <a:prstGeom prst="roundRect">
            <a:avLst>
              <a:gd name="adj" fmla="val 10000"/>
            </a:avLst>
          </a:prstGeom>
          <a:solidFill>
            <a:srgbClr val="F1F2F7"/>
          </a:solidFill>
          <a:ln w="12700">
            <a:solidFill>
              <a:srgbClr val="F1F2F7"/>
            </a:solidFill>
            <a:prstDash val="solid"/>
          </a:ln>
        </p:spPr>
      </p:sp>
      <p:sp>
        <p:nvSpPr>
          <p:cNvPr id="27" name="Ad-ready proof"/>
          <p:cNvSpPr txBox="1"/>
          <p:nvPr/>
        </p:nvSpPr>
        <p:spPr>
          <a:xfrm>
            <a:off x="4846320" y="4023360"/>
            <a:ext cx="3657600" cy="548640"/>
          </a:xfrm>
          <a:prstGeom prst="rect">
            <a:avLst/>
          </a:prstGeom>
          <a:noFill/>
          <a:ln/>
        </p:spPr>
        <p:txBody>
          <a:bodyPr wrap="square" lIns="0" tIns="0" rIns="0" bIns="0" rtlCol="0" anchor="ctr"/>
          <a:lstStyle/>
          <a:p>
            <a:pPr indent="0" marL="0">
              <a:buNone/>
            </a:pPr>
            <a:r>
              <a:rPr lang="en-US" sz="1100" b="1" dirty="0">
                <a:solidFill>
                  <a:schemeClr val="accent3"/>
                </a:solidFill>
              </a:rPr>
              <a:t>Ad-ready proof: </a:t>
            </a:r>
            <a:pPr indent="0" marL="0">
              <a:buNone/>
            </a:pPr>
            <a:r>
              <a:rPr lang="en-US" sz="1100" dirty="0">
                <a:solidFill>
                  <a:schemeClr val="tx2"/>
                </a:solidFill>
              </a:rPr>
              <a:t>[Press, quotes or stats worth using in ads]</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74320"/>
          </a:xfrm>
          <a:prstGeom prst="rect">
            <a:avLst/>
          </a:prstGeom>
          <a:noFill/>
          <a:ln/>
        </p:spPr>
        <p:txBody>
          <a:bodyPr wrap="square" lIns="0" tIns="0" rIns="0" bIns="0" rtlCol="0"/>
          <a:lstStyle/>
          <a:p>
            <a:pPr indent="0" marL="0">
              <a:buNone/>
            </a:pPr>
            <a:r>
              <a:rPr lang="en-US" sz="1100" b="1" spc="200" kern="0" dirty="0">
                <a:solidFill>
                  <a:schemeClr val="accent1"/>
                </a:solidFill>
              </a:rPr>
              <a:t>VOICE OF CUSTOMER</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In their own words</a:t>
            </a:r>
            <a:endParaRPr lang="en-US" sz="2600" dirty="0"/>
          </a:p>
        </p:txBody>
      </p:sp>
      <p:sp>
        <p:nvSpPr>
          <p:cNvPr id="4" name="Why they love it header"/>
          <p:cNvSpPr txBox="1"/>
          <p:nvPr/>
        </p:nvSpPr>
        <p:spPr>
          <a:xfrm>
            <a:off x="457200" y="1234440"/>
            <a:ext cx="4023360" cy="320040"/>
          </a:xfrm>
          <a:prstGeom prst="rect">
            <a:avLst/>
          </a:prstGeom>
          <a:noFill/>
          <a:ln/>
        </p:spPr>
        <p:txBody>
          <a:bodyPr wrap="square" lIns="0" tIns="0" rIns="0" bIns="0" rtlCol="0" anchor="t"/>
          <a:lstStyle/>
          <a:p>
            <a:pPr indent="0" marL="0">
              <a:buNone/>
            </a:pPr>
            <a:r>
              <a:rPr lang="en-US" sz="1500" b="1" dirty="0">
                <a:solidFill>
                  <a:schemeClr val="accent3"/>
                </a:solidFill>
              </a:rPr>
              <a:t>Why they love it</a:t>
            </a:r>
            <a:endParaRPr lang="en-US" sz="1500" dirty="0"/>
          </a:p>
        </p:txBody>
      </p:sp>
      <p:sp>
        <p:nvSpPr>
          <p:cNvPr id="5" name="Why they love it quote 1"/>
          <p:cNvSpPr/>
          <p:nvPr/>
        </p:nvSpPr>
        <p:spPr>
          <a:xfrm>
            <a:off x="457200" y="1645920"/>
            <a:ext cx="4023360" cy="868680"/>
          </a:xfrm>
          <a:prstGeom prst="roundRect">
            <a:avLst>
              <a:gd name="adj" fmla="val 8421"/>
            </a:avLst>
          </a:prstGeom>
          <a:solidFill>
            <a:schemeClr val="bg2"/>
          </a:solidFill>
          <a:ln w="12700">
            <a:solidFill>
              <a:schemeClr val="bg2"/>
            </a:solidFill>
            <a:prstDash val="solid"/>
          </a:ln>
        </p:spPr>
      </p:sp>
      <p:sp>
        <p:nvSpPr>
          <p:cNvPr id="6" name="Why they love it quote 1 text"/>
          <p:cNvSpPr txBox="1"/>
          <p:nvPr/>
        </p:nvSpPr>
        <p:spPr>
          <a:xfrm>
            <a:off x="640080" y="1755648"/>
            <a:ext cx="3657600" cy="685800"/>
          </a:xfrm>
          <a:prstGeom prst="rect">
            <a:avLst/>
          </a:prstGeom>
          <a:noFill/>
          <a:ln/>
        </p:spPr>
        <p:txBody>
          <a:bodyPr wrap="square" lIns="0" tIns="0" rIns="0" bIns="0" rtlCol="0" anchor="t"/>
          <a:lstStyle/>
          <a:p>
            <a:pPr indent="0" marL="0">
              <a:buNone/>
            </a:pPr>
            <a:r>
              <a:rPr lang="en-US" sz="1200" i="1" dirty="0">
                <a:solidFill>
                  <a:schemeClr val="tx1"/>
                </a:solidFill>
              </a:rPr>
              <a:t>“[Exact customer quote]”</a:t>
            </a:r>
            <a:endParaRPr lang="en-US" sz="1200" dirty="0"/>
          </a:p>
          <a:p>
            <a:pPr indent="0" marL="0">
              <a:buNone/>
            </a:pPr>
            <a:r>
              <a:rPr lang="en-US" sz="900" dirty="0">
                <a:solidFill>
                  <a:schemeClr val="accent5"/>
                </a:solidFill>
              </a:rPr>
              <a:t>[Source: Amazon review / Reddit / IG comment]</a:t>
            </a:r>
            <a:endParaRPr lang="en-US" sz="1200" dirty="0"/>
          </a:p>
        </p:txBody>
      </p:sp>
      <p:sp>
        <p:nvSpPr>
          <p:cNvPr id="7" name="Why they love it quote 2"/>
          <p:cNvSpPr/>
          <p:nvPr/>
        </p:nvSpPr>
        <p:spPr>
          <a:xfrm>
            <a:off x="457200" y="2651760"/>
            <a:ext cx="4023360" cy="868680"/>
          </a:xfrm>
          <a:prstGeom prst="roundRect">
            <a:avLst>
              <a:gd name="adj" fmla="val 8421"/>
            </a:avLst>
          </a:prstGeom>
          <a:solidFill>
            <a:schemeClr val="bg2"/>
          </a:solidFill>
          <a:ln w="12700">
            <a:solidFill>
              <a:schemeClr val="bg2"/>
            </a:solidFill>
            <a:prstDash val="solid"/>
          </a:ln>
        </p:spPr>
      </p:sp>
      <p:sp>
        <p:nvSpPr>
          <p:cNvPr id="8" name="Why they love it quote 2 text"/>
          <p:cNvSpPr txBox="1"/>
          <p:nvPr/>
        </p:nvSpPr>
        <p:spPr>
          <a:xfrm>
            <a:off x="640080" y="2761488"/>
            <a:ext cx="3657600" cy="685800"/>
          </a:xfrm>
          <a:prstGeom prst="rect">
            <a:avLst/>
          </a:prstGeom>
          <a:noFill/>
          <a:ln/>
        </p:spPr>
        <p:txBody>
          <a:bodyPr wrap="square" lIns="0" tIns="0" rIns="0" bIns="0" rtlCol="0" anchor="t"/>
          <a:lstStyle/>
          <a:p>
            <a:pPr indent="0" marL="0">
              <a:buNone/>
            </a:pPr>
            <a:r>
              <a:rPr lang="en-US" sz="1200" i="1" dirty="0">
                <a:solidFill>
                  <a:schemeClr val="tx1"/>
                </a:solidFill>
              </a:rPr>
              <a:t>“[Exact customer quote]”</a:t>
            </a:r>
            <a:endParaRPr lang="en-US" sz="1200" dirty="0"/>
          </a:p>
          <a:p>
            <a:pPr indent="0" marL="0">
              <a:buNone/>
            </a:pPr>
            <a:r>
              <a:rPr lang="en-US" sz="900" dirty="0">
                <a:solidFill>
                  <a:schemeClr val="accent5"/>
                </a:solidFill>
              </a:rPr>
              <a:t>[Source: Amazon review / Reddit / IG comment]</a:t>
            </a:r>
            <a:endParaRPr lang="en-US" sz="1200" dirty="0"/>
          </a:p>
        </p:txBody>
      </p:sp>
      <p:sp>
        <p:nvSpPr>
          <p:cNvPr id="9" name="Why they love it quote 3"/>
          <p:cNvSpPr/>
          <p:nvPr/>
        </p:nvSpPr>
        <p:spPr>
          <a:xfrm>
            <a:off x="457200" y="3657600"/>
            <a:ext cx="4023360" cy="868680"/>
          </a:xfrm>
          <a:prstGeom prst="roundRect">
            <a:avLst>
              <a:gd name="adj" fmla="val 8421"/>
            </a:avLst>
          </a:prstGeom>
          <a:solidFill>
            <a:schemeClr val="bg2"/>
          </a:solidFill>
          <a:ln w="12700">
            <a:solidFill>
              <a:schemeClr val="bg2"/>
            </a:solidFill>
            <a:prstDash val="solid"/>
          </a:ln>
        </p:spPr>
      </p:sp>
      <p:sp>
        <p:nvSpPr>
          <p:cNvPr id="10" name="Why they love it quote 3 text"/>
          <p:cNvSpPr txBox="1"/>
          <p:nvPr/>
        </p:nvSpPr>
        <p:spPr>
          <a:xfrm>
            <a:off x="640080" y="3767328"/>
            <a:ext cx="3657600" cy="685800"/>
          </a:xfrm>
          <a:prstGeom prst="rect">
            <a:avLst/>
          </a:prstGeom>
          <a:noFill/>
          <a:ln/>
        </p:spPr>
        <p:txBody>
          <a:bodyPr wrap="square" lIns="0" tIns="0" rIns="0" bIns="0" rtlCol="0" anchor="t"/>
          <a:lstStyle/>
          <a:p>
            <a:pPr indent="0" marL="0">
              <a:buNone/>
            </a:pPr>
            <a:r>
              <a:rPr lang="en-US" sz="1200" i="1" dirty="0">
                <a:solidFill>
                  <a:schemeClr val="tx1"/>
                </a:solidFill>
              </a:rPr>
              <a:t>“[Exact customer quote]”</a:t>
            </a:r>
            <a:endParaRPr lang="en-US" sz="1200" dirty="0"/>
          </a:p>
          <a:p>
            <a:pPr indent="0" marL="0">
              <a:buNone/>
            </a:pPr>
            <a:r>
              <a:rPr lang="en-US" sz="900" dirty="0">
                <a:solidFill>
                  <a:schemeClr val="accent5"/>
                </a:solidFill>
              </a:rPr>
              <a:t>[Source: Amazon review / Reddit / IG comment]</a:t>
            </a:r>
            <a:endParaRPr lang="en-US" sz="1200" dirty="0"/>
          </a:p>
        </p:txBody>
      </p:sp>
      <p:sp>
        <p:nvSpPr>
          <p:cNvPr id="11" name="What frustrates them header"/>
          <p:cNvSpPr txBox="1"/>
          <p:nvPr/>
        </p:nvSpPr>
        <p:spPr>
          <a:xfrm>
            <a:off x="4663440" y="1234440"/>
            <a:ext cx="4023360" cy="320040"/>
          </a:xfrm>
          <a:prstGeom prst="rect">
            <a:avLst/>
          </a:prstGeom>
          <a:noFill/>
          <a:ln/>
        </p:spPr>
        <p:txBody>
          <a:bodyPr wrap="square" lIns="0" tIns="0" rIns="0" bIns="0" rtlCol="0" anchor="t"/>
          <a:lstStyle/>
          <a:p>
            <a:pPr indent="0" marL="0">
              <a:buNone/>
            </a:pPr>
            <a:r>
              <a:rPr lang="en-US" sz="1500" b="1" dirty="0">
                <a:solidFill>
                  <a:schemeClr val="accent4"/>
                </a:solidFill>
              </a:rPr>
              <a:t>What frustrates them</a:t>
            </a:r>
            <a:endParaRPr lang="en-US" sz="1500" dirty="0"/>
          </a:p>
        </p:txBody>
      </p:sp>
      <p:sp>
        <p:nvSpPr>
          <p:cNvPr id="12" name="What frustrates them quote 1"/>
          <p:cNvSpPr/>
          <p:nvPr/>
        </p:nvSpPr>
        <p:spPr>
          <a:xfrm>
            <a:off x="4663440" y="1645920"/>
            <a:ext cx="4023360" cy="868680"/>
          </a:xfrm>
          <a:prstGeom prst="roundRect">
            <a:avLst>
              <a:gd name="adj" fmla="val 8421"/>
            </a:avLst>
          </a:prstGeom>
          <a:solidFill>
            <a:schemeClr val="bg2"/>
          </a:solidFill>
          <a:ln w="12700">
            <a:solidFill>
              <a:schemeClr val="bg2"/>
            </a:solidFill>
            <a:prstDash val="solid"/>
          </a:ln>
        </p:spPr>
      </p:sp>
      <p:sp>
        <p:nvSpPr>
          <p:cNvPr id="13" name="What frustrates them quote 1 text"/>
          <p:cNvSpPr txBox="1"/>
          <p:nvPr/>
        </p:nvSpPr>
        <p:spPr>
          <a:xfrm>
            <a:off x="4846320" y="1755648"/>
            <a:ext cx="3657600" cy="685800"/>
          </a:xfrm>
          <a:prstGeom prst="rect">
            <a:avLst/>
          </a:prstGeom>
          <a:noFill/>
          <a:ln/>
        </p:spPr>
        <p:txBody>
          <a:bodyPr wrap="square" lIns="0" tIns="0" rIns="0" bIns="0" rtlCol="0" anchor="t"/>
          <a:lstStyle/>
          <a:p>
            <a:pPr indent="0" marL="0">
              <a:buNone/>
            </a:pPr>
            <a:r>
              <a:rPr lang="en-US" sz="1200" i="1" dirty="0">
                <a:solidFill>
                  <a:schemeClr val="tx1"/>
                </a:solidFill>
              </a:rPr>
              <a:t>“[Exact customer quote]”</a:t>
            </a:r>
            <a:endParaRPr lang="en-US" sz="1200" dirty="0"/>
          </a:p>
          <a:p>
            <a:pPr indent="0" marL="0">
              <a:buNone/>
            </a:pPr>
            <a:r>
              <a:rPr lang="en-US" sz="900" dirty="0">
                <a:solidFill>
                  <a:schemeClr val="accent5"/>
                </a:solidFill>
              </a:rPr>
              <a:t>[Source: Amazon review / Reddit / IG comment]</a:t>
            </a:r>
            <a:endParaRPr lang="en-US" sz="1200" dirty="0"/>
          </a:p>
        </p:txBody>
      </p:sp>
      <p:sp>
        <p:nvSpPr>
          <p:cNvPr id="14" name="What frustrates them quote 2"/>
          <p:cNvSpPr/>
          <p:nvPr/>
        </p:nvSpPr>
        <p:spPr>
          <a:xfrm>
            <a:off x="4663440" y="2651760"/>
            <a:ext cx="4023360" cy="868680"/>
          </a:xfrm>
          <a:prstGeom prst="roundRect">
            <a:avLst>
              <a:gd name="adj" fmla="val 8421"/>
            </a:avLst>
          </a:prstGeom>
          <a:solidFill>
            <a:schemeClr val="bg2"/>
          </a:solidFill>
          <a:ln w="12700">
            <a:solidFill>
              <a:schemeClr val="bg2"/>
            </a:solidFill>
            <a:prstDash val="solid"/>
          </a:ln>
        </p:spPr>
      </p:sp>
      <p:sp>
        <p:nvSpPr>
          <p:cNvPr id="15" name="What frustrates them quote 2 text"/>
          <p:cNvSpPr txBox="1"/>
          <p:nvPr/>
        </p:nvSpPr>
        <p:spPr>
          <a:xfrm>
            <a:off x="4846320" y="2761488"/>
            <a:ext cx="3657600" cy="685800"/>
          </a:xfrm>
          <a:prstGeom prst="rect">
            <a:avLst/>
          </a:prstGeom>
          <a:noFill/>
          <a:ln/>
        </p:spPr>
        <p:txBody>
          <a:bodyPr wrap="square" lIns="0" tIns="0" rIns="0" bIns="0" rtlCol="0" anchor="t"/>
          <a:lstStyle/>
          <a:p>
            <a:pPr indent="0" marL="0">
              <a:buNone/>
            </a:pPr>
            <a:r>
              <a:rPr lang="en-US" sz="1200" i="1" dirty="0">
                <a:solidFill>
                  <a:schemeClr val="tx1"/>
                </a:solidFill>
              </a:rPr>
              <a:t>“[Exact customer quote]”</a:t>
            </a:r>
            <a:endParaRPr lang="en-US" sz="1200" dirty="0"/>
          </a:p>
          <a:p>
            <a:pPr indent="0" marL="0">
              <a:buNone/>
            </a:pPr>
            <a:r>
              <a:rPr lang="en-US" sz="900" dirty="0">
                <a:solidFill>
                  <a:schemeClr val="accent5"/>
                </a:solidFill>
              </a:rPr>
              <a:t>[Source: Amazon review / Reddit / IG comment]</a:t>
            </a:r>
            <a:endParaRPr lang="en-US" sz="1200" dirty="0"/>
          </a:p>
        </p:txBody>
      </p:sp>
      <p:sp>
        <p:nvSpPr>
          <p:cNvPr id="16" name="What frustrates them quote 3"/>
          <p:cNvSpPr/>
          <p:nvPr/>
        </p:nvSpPr>
        <p:spPr>
          <a:xfrm>
            <a:off x="4663440" y="3657600"/>
            <a:ext cx="4023360" cy="868680"/>
          </a:xfrm>
          <a:prstGeom prst="roundRect">
            <a:avLst>
              <a:gd name="adj" fmla="val 8421"/>
            </a:avLst>
          </a:prstGeom>
          <a:solidFill>
            <a:schemeClr val="bg2"/>
          </a:solidFill>
          <a:ln w="12700">
            <a:solidFill>
              <a:schemeClr val="bg2"/>
            </a:solidFill>
            <a:prstDash val="solid"/>
          </a:ln>
        </p:spPr>
      </p:sp>
      <p:sp>
        <p:nvSpPr>
          <p:cNvPr id="17" name="What frustrates them quote 3 text"/>
          <p:cNvSpPr txBox="1"/>
          <p:nvPr/>
        </p:nvSpPr>
        <p:spPr>
          <a:xfrm>
            <a:off x="4846320" y="3767328"/>
            <a:ext cx="3657600" cy="685800"/>
          </a:xfrm>
          <a:prstGeom prst="rect">
            <a:avLst/>
          </a:prstGeom>
          <a:noFill/>
          <a:ln/>
        </p:spPr>
        <p:txBody>
          <a:bodyPr wrap="square" lIns="0" tIns="0" rIns="0" bIns="0" rtlCol="0" anchor="t"/>
          <a:lstStyle/>
          <a:p>
            <a:pPr indent="0" marL="0">
              <a:buNone/>
            </a:pPr>
            <a:r>
              <a:rPr lang="en-US" sz="1200" i="1" dirty="0">
                <a:solidFill>
                  <a:schemeClr val="tx1"/>
                </a:solidFill>
              </a:rPr>
              <a:t>“[Exact customer quote]”</a:t>
            </a:r>
            <a:endParaRPr lang="en-US" sz="1200" dirty="0"/>
          </a:p>
          <a:p>
            <a:pPr indent="0" marL="0">
              <a:buNone/>
            </a:pPr>
            <a:r>
              <a:rPr lang="en-US" sz="900" dirty="0">
                <a:solidFill>
                  <a:schemeClr val="accent5"/>
                </a:solidFill>
              </a:rPr>
              <a:t>[Source: Amazon review / Reddit / IG comment]</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74320"/>
          </a:xfrm>
          <a:prstGeom prst="rect">
            <a:avLst/>
          </a:prstGeom>
          <a:noFill/>
          <a:ln/>
        </p:spPr>
        <p:txBody>
          <a:bodyPr wrap="square" lIns="0" tIns="0" rIns="0" bIns="0" rtlCol="0"/>
          <a:lstStyle/>
          <a:p>
            <a:pPr indent="0" marL="0">
              <a:buNone/>
            </a:pPr>
            <a:r>
              <a:rPr lang="en-US" sz="1100" b="1" spc="200" kern="0" dirty="0">
                <a:solidFill>
                  <a:schemeClr val="accent1"/>
                </a:solidFill>
              </a:rPr>
              <a:t>CREATIVE AUDIT</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What's working now: likely winners</a:t>
            </a:r>
            <a:endParaRPr lang="en-US" sz="2600" dirty="0"/>
          </a:p>
        </p:txBody>
      </p:sp>
      <p:sp>
        <p:nvSpPr>
          <p:cNvPr id="4" name="Proxy note"/>
          <p:cNvSpPr txBox="1"/>
          <p:nvPr/>
        </p:nvSpPr>
        <p:spPr>
          <a:xfrm>
            <a:off x="457200" y="1097280"/>
            <a:ext cx="8229600" cy="274320"/>
          </a:xfrm>
          <a:prstGeom prst="rect">
            <a:avLst/>
          </a:prstGeom>
          <a:noFill/>
          <a:ln/>
        </p:spPr>
        <p:txBody>
          <a:bodyPr wrap="square" lIns="0" tIns="0" rIns="0" bIns="0" rtlCol="0" anchor="t"/>
          <a:lstStyle/>
          <a:p>
            <a:pPr indent="0" marL="0">
              <a:buNone/>
            </a:pPr>
            <a:r>
              <a:rPr lang="en-US" sz="1000" i="1" dirty="0">
                <a:solidFill>
                  <a:schemeClr val="accent5"/>
                </a:solidFill>
              </a:rPr>
              <a:t>Longest-running active ads. Long run time suggests a winner; it is not proof of performance.</a:t>
            </a:r>
            <a:endParaRPr lang="en-US" sz="1000" dirty="0"/>
          </a:p>
        </p:txBody>
      </p:sp>
      <p:sp>
        <p:nvSpPr>
          <p:cNvPr id="5" name="Ad 1 screenshot"/>
          <p:cNvSpPr/>
          <p:nvPr/>
        </p:nvSpPr>
        <p:spPr>
          <a:xfrm>
            <a:off x="457200" y="1463040"/>
            <a:ext cx="2606040" cy="1417320"/>
          </a:xfrm>
          <a:prstGeom prst="roundRect">
            <a:avLst>
              <a:gd name="adj" fmla="val 3871"/>
            </a:avLst>
          </a:prstGeom>
          <a:solidFill>
            <a:schemeClr val="bg1"/>
          </a:solidFill>
          <a:ln w="12700">
            <a:solidFill>
              <a:schemeClr val="accent5"/>
            </a:solidFill>
            <a:prstDash val="dash"/>
          </a:ln>
        </p:spPr>
      </p:sp>
      <p:sp>
        <p:nvSpPr>
          <p:cNvPr id="6" name="Ad 1 screenshot label"/>
          <p:cNvSpPr txBox="1"/>
          <p:nvPr/>
        </p:nvSpPr>
        <p:spPr>
          <a:xfrm>
            <a:off x="457200" y="1463040"/>
            <a:ext cx="2606040" cy="1417320"/>
          </a:xfrm>
          <a:prstGeom prst="rect">
            <a:avLst/>
          </a:prstGeom>
          <a:noFill/>
          <a:ln/>
        </p:spPr>
        <p:txBody>
          <a:bodyPr wrap="square" rtlCol="0" anchor="ctr"/>
          <a:lstStyle/>
          <a:p>
            <a:pPr algn="ctr" indent="0" marL="0">
              <a:buNone/>
            </a:pPr>
            <a:r>
              <a:rPr lang="en-US" sz="1000" i="1" dirty="0">
                <a:solidFill>
                  <a:schemeClr val="accent5"/>
                </a:solidFill>
              </a:rPr>
              <a:t>[Ad screenshot]</a:t>
            </a:r>
            <a:endParaRPr lang="en-US" sz="1000" dirty="0"/>
          </a:p>
        </p:txBody>
      </p:sp>
      <p:sp>
        <p:nvSpPr>
          <p:cNvPr id="7" name="Ad 1 meta"/>
          <p:cNvSpPr txBox="1"/>
          <p:nvPr/>
        </p:nvSpPr>
        <p:spPr>
          <a:xfrm>
            <a:off x="457200" y="2971800"/>
            <a:ext cx="2606040" cy="1691640"/>
          </a:xfrm>
          <a:prstGeom prst="rect">
            <a:avLst/>
          </a:prstGeom>
          <a:noFill/>
          <a:ln/>
        </p:spPr>
        <p:txBody>
          <a:bodyPr wrap="square" lIns="0" tIns="0" rIns="0" bIns="0" rtlCol="0" anchor="t"/>
          <a:lstStyle/>
          <a:p>
            <a:pPr indent="0" marL="0">
              <a:spcAft>
                <a:spcPts val="400"/>
              </a:spcAft>
              <a:buNone/>
            </a:pPr>
            <a:r>
              <a:rPr lang="en-US" sz="1100" b="1" dirty="0">
                <a:solidFill>
                  <a:schemeClr val="tx1"/>
                </a:solidFill>
              </a:rPr>
              <a:t>Running: </a:t>
            </a:r>
            <a:pPr indent="0" marL="0">
              <a:spcAft>
                <a:spcPts val="400"/>
              </a:spcAft>
              <a:buNone/>
            </a:pPr>
            <a:r>
              <a:rPr lang="en-US" sz="1100" dirty="0">
                <a:solidFill>
                  <a:schemeClr val="tx2"/>
                </a:solidFill>
              </a:rPr>
              <a:t>[X] days  ·  </a:t>
            </a:r>
            <a:pPr indent="0" marL="0">
              <a:spcAft>
                <a:spcPts val="400"/>
              </a:spcAft>
              <a:buNone/>
            </a:pPr>
            <a:r>
              <a:rPr lang="en-US" sz="1100" b="1" dirty="0">
                <a:solidFill>
                  <a:schemeClr val="tx1"/>
                </a:solidFill>
              </a:rPr>
              <a:t>Format: </a:t>
            </a:r>
            <a:pPr indent="0" marL="0">
              <a:spcAft>
                <a:spcPts val="400"/>
              </a:spcAft>
              <a:buNone/>
            </a:pPr>
            <a:r>
              <a:rPr lang="en-US" sz="1100" dirty="0">
                <a:solidFill>
                  <a:schemeClr val="tx2"/>
                </a:solidFill>
              </a:rPr>
              <a:t>[UGC / static / VSL]</a:t>
            </a:r>
            <a:endParaRPr lang="en-US" sz="1100" dirty="0"/>
          </a:p>
          <a:p>
            <a:pPr indent="0" marL="0">
              <a:spcAft>
                <a:spcPts val="400"/>
              </a:spcAft>
              <a:buNone/>
            </a:pPr>
            <a:r>
              <a:rPr lang="en-US" sz="1100" b="1" dirty="0">
                <a:solidFill>
                  <a:schemeClr val="tx1"/>
                </a:solidFill>
              </a:rPr>
              <a:t>Hook: </a:t>
            </a:r>
            <a:pPr indent="0" marL="0">
              <a:spcAft>
                <a:spcPts val="400"/>
              </a:spcAft>
              <a:buNone/>
            </a:pPr>
            <a:r>
              <a:rPr lang="en-US" sz="1100" dirty="0">
                <a:solidFill>
                  <a:schemeClr val="tx2"/>
                </a:solidFill>
              </a:rPr>
              <a:t>“[First line / first 3 seconds]”</a:t>
            </a:r>
            <a:endParaRPr lang="en-US" sz="1100" dirty="0"/>
          </a:p>
          <a:p>
            <a:pPr indent="0" marL="0">
              <a:spcAft>
                <a:spcPts val="400"/>
              </a:spcAft>
              <a:buNone/>
            </a:pPr>
            <a:r>
              <a:rPr lang="en-US" sz="1100" b="1" dirty="0">
                <a:solidFill>
                  <a:schemeClr val="tx1"/>
                </a:solidFill>
              </a:rPr>
              <a:t>Why it works: </a:t>
            </a:r>
            <a:pPr indent="0" marL="0">
              <a:spcAft>
                <a:spcPts val="400"/>
              </a:spcAft>
              <a:buNone/>
            </a:pPr>
            <a:r>
              <a:rPr lang="en-US" sz="1100" dirty="0">
                <a:solidFill>
                  <a:schemeClr val="tx2"/>
                </a:solidFill>
              </a:rPr>
              <a:t>[Angle, emotion, proof]</a:t>
            </a:r>
            <a:endParaRPr lang="en-US" sz="1100" dirty="0"/>
          </a:p>
        </p:txBody>
      </p:sp>
      <p:sp>
        <p:nvSpPr>
          <p:cNvPr id="8" name="Ad 2 screenshot"/>
          <p:cNvSpPr/>
          <p:nvPr/>
        </p:nvSpPr>
        <p:spPr>
          <a:xfrm>
            <a:off x="3268980" y="1463040"/>
            <a:ext cx="2606040" cy="1417320"/>
          </a:xfrm>
          <a:prstGeom prst="roundRect">
            <a:avLst>
              <a:gd name="adj" fmla="val 3871"/>
            </a:avLst>
          </a:prstGeom>
          <a:solidFill>
            <a:schemeClr val="bg1"/>
          </a:solidFill>
          <a:ln w="12700">
            <a:solidFill>
              <a:schemeClr val="accent5"/>
            </a:solidFill>
            <a:prstDash val="dash"/>
          </a:ln>
        </p:spPr>
      </p:sp>
      <p:sp>
        <p:nvSpPr>
          <p:cNvPr id="9" name="Ad 2 screenshot label"/>
          <p:cNvSpPr txBox="1"/>
          <p:nvPr/>
        </p:nvSpPr>
        <p:spPr>
          <a:xfrm>
            <a:off x="3268980" y="1463040"/>
            <a:ext cx="2606040" cy="1417320"/>
          </a:xfrm>
          <a:prstGeom prst="rect">
            <a:avLst/>
          </a:prstGeom>
          <a:noFill/>
          <a:ln/>
        </p:spPr>
        <p:txBody>
          <a:bodyPr wrap="square" rtlCol="0" anchor="ctr"/>
          <a:lstStyle/>
          <a:p>
            <a:pPr algn="ctr" indent="0" marL="0">
              <a:buNone/>
            </a:pPr>
            <a:r>
              <a:rPr lang="en-US" sz="1000" i="1" dirty="0">
                <a:solidFill>
                  <a:schemeClr val="accent5"/>
                </a:solidFill>
              </a:rPr>
              <a:t>[Ad screenshot]</a:t>
            </a:r>
            <a:endParaRPr lang="en-US" sz="1000" dirty="0"/>
          </a:p>
        </p:txBody>
      </p:sp>
      <p:sp>
        <p:nvSpPr>
          <p:cNvPr id="10" name="Ad 2 meta"/>
          <p:cNvSpPr txBox="1"/>
          <p:nvPr/>
        </p:nvSpPr>
        <p:spPr>
          <a:xfrm>
            <a:off x="3268980" y="2971800"/>
            <a:ext cx="2606040" cy="1691640"/>
          </a:xfrm>
          <a:prstGeom prst="rect">
            <a:avLst/>
          </a:prstGeom>
          <a:noFill/>
          <a:ln/>
        </p:spPr>
        <p:txBody>
          <a:bodyPr wrap="square" lIns="0" tIns="0" rIns="0" bIns="0" rtlCol="0" anchor="t"/>
          <a:lstStyle/>
          <a:p>
            <a:pPr indent="0" marL="0">
              <a:spcAft>
                <a:spcPts val="400"/>
              </a:spcAft>
              <a:buNone/>
            </a:pPr>
            <a:r>
              <a:rPr lang="en-US" sz="1100" b="1" dirty="0">
                <a:solidFill>
                  <a:schemeClr val="tx1"/>
                </a:solidFill>
              </a:rPr>
              <a:t>Running: </a:t>
            </a:r>
            <a:pPr indent="0" marL="0">
              <a:spcAft>
                <a:spcPts val="400"/>
              </a:spcAft>
              <a:buNone/>
            </a:pPr>
            <a:r>
              <a:rPr lang="en-US" sz="1100" dirty="0">
                <a:solidFill>
                  <a:schemeClr val="tx2"/>
                </a:solidFill>
              </a:rPr>
              <a:t>[X] days  ·  </a:t>
            </a:r>
            <a:pPr indent="0" marL="0">
              <a:spcAft>
                <a:spcPts val="400"/>
              </a:spcAft>
              <a:buNone/>
            </a:pPr>
            <a:r>
              <a:rPr lang="en-US" sz="1100" b="1" dirty="0">
                <a:solidFill>
                  <a:schemeClr val="tx1"/>
                </a:solidFill>
              </a:rPr>
              <a:t>Format: </a:t>
            </a:r>
            <a:pPr indent="0" marL="0">
              <a:spcAft>
                <a:spcPts val="400"/>
              </a:spcAft>
              <a:buNone/>
            </a:pPr>
            <a:r>
              <a:rPr lang="en-US" sz="1100" dirty="0">
                <a:solidFill>
                  <a:schemeClr val="tx2"/>
                </a:solidFill>
              </a:rPr>
              <a:t>[UGC / static / VSL]</a:t>
            </a:r>
            <a:endParaRPr lang="en-US" sz="1100" dirty="0"/>
          </a:p>
          <a:p>
            <a:pPr indent="0" marL="0">
              <a:spcAft>
                <a:spcPts val="400"/>
              </a:spcAft>
              <a:buNone/>
            </a:pPr>
            <a:r>
              <a:rPr lang="en-US" sz="1100" b="1" dirty="0">
                <a:solidFill>
                  <a:schemeClr val="tx1"/>
                </a:solidFill>
              </a:rPr>
              <a:t>Hook: </a:t>
            </a:r>
            <a:pPr indent="0" marL="0">
              <a:spcAft>
                <a:spcPts val="400"/>
              </a:spcAft>
              <a:buNone/>
            </a:pPr>
            <a:r>
              <a:rPr lang="en-US" sz="1100" dirty="0">
                <a:solidFill>
                  <a:schemeClr val="tx2"/>
                </a:solidFill>
              </a:rPr>
              <a:t>“[First line / first 3 seconds]”</a:t>
            </a:r>
            <a:endParaRPr lang="en-US" sz="1100" dirty="0"/>
          </a:p>
          <a:p>
            <a:pPr indent="0" marL="0">
              <a:spcAft>
                <a:spcPts val="400"/>
              </a:spcAft>
              <a:buNone/>
            </a:pPr>
            <a:r>
              <a:rPr lang="en-US" sz="1100" b="1" dirty="0">
                <a:solidFill>
                  <a:schemeClr val="tx1"/>
                </a:solidFill>
              </a:rPr>
              <a:t>Why it works: </a:t>
            </a:r>
            <a:pPr indent="0" marL="0">
              <a:spcAft>
                <a:spcPts val="400"/>
              </a:spcAft>
              <a:buNone/>
            </a:pPr>
            <a:r>
              <a:rPr lang="en-US" sz="1100" dirty="0">
                <a:solidFill>
                  <a:schemeClr val="tx2"/>
                </a:solidFill>
              </a:rPr>
              <a:t>[Angle, emotion, proof]</a:t>
            </a:r>
            <a:endParaRPr lang="en-US" sz="1100" dirty="0"/>
          </a:p>
        </p:txBody>
      </p:sp>
      <p:sp>
        <p:nvSpPr>
          <p:cNvPr id="11" name="Ad 3 screenshot"/>
          <p:cNvSpPr/>
          <p:nvPr/>
        </p:nvSpPr>
        <p:spPr>
          <a:xfrm>
            <a:off x="6080760" y="1463040"/>
            <a:ext cx="2606040" cy="1417320"/>
          </a:xfrm>
          <a:prstGeom prst="roundRect">
            <a:avLst>
              <a:gd name="adj" fmla="val 3871"/>
            </a:avLst>
          </a:prstGeom>
          <a:solidFill>
            <a:schemeClr val="bg1"/>
          </a:solidFill>
          <a:ln w="12700">
            <a:solidFill>
              <a:schemeClr val="accent5"/>
            </a:solidFill>
            <a:prstDash val="dash"/>
          </a:ln>
        </p:spPr>
      </p:sp>
      <p:sp>
        <p:nvSpPr>
          <p:cNvPr id="12" name="Ad 3 screenshot label"/>
          <p:cNvSpPr txBox="1"/>
          <p:nvPr/>
        </p:nvSpPr>
        <p:spPr>
          <a:xfrm>
            <a:off x="6080760" y="1463040"/>
            <a:ext cx="2606040" cy="1417320"/>
          </a:xfrm>
          <a:prstGeom prst="rect">
            <a:avLst/>
          </a:prstGeom>
          <a:noFill/>
          <a:ln/>
        </p:spPr>
        <p:txBody>
          <a:bodyPr wrap="square" rtlCol="0" anchor="ctr"/>
          <a:lstStyle/>
          <a:p>
            <a:pPr algn="ctr" indent="0" marL="0">
              <a:buNone/>
            </a:pPr>
            <a:r>
              <a:rPr lang="en-US" sz="1000" i="1" dirty="0">
                <a:solidFill>
                  <a:schemeClr val="accent5"/>
                </a:solidFill>
              </a:rPr>
              <a:t>[Ad screenshot]</a:t>
            </a:r>
            <a:endParaRPr lang="en-US" sz="1000" dirty="0"/>
          </a:p>
        </p:txBody>
      </p:sp>
      <p:sp>
        <p:nvSpPr>
          <p:cNvPr id="13" name="Ad 3 meta"/>
          <p:cNvSpPr txBox="1"/>
          <p:nvPr/>
        </p:nvSpPr>
        <p:spPr>
          <a:xfrm>
            <a:off x="6080760" y="2971800"/>
            <a:ext cx="2606040" cy="1691640"/>
          </a:xfrm>
          <a:prstGeom prst="rect">
            <a:avLst/>
          </a:prstGeom>
          <a:noFill/>
          <a:ln/>
        </p:spPr>
        <p:txBody>
          <a:bodyPr wrap="square" lIns="0" tIns="0" rIns="0" bIns="0" rtlCol="0" anchor="t"/>
          <a:lstStyle/>
          <a:p>
            <a:pPr indent="0" marL="0">
              <a:spcAft>
                <a:spcPts val="400"/>
              </a:spcAft>
              <a:buNone/>
            </a:pPr>
            <a:r>
              <a:rPr lang="en-US" sz="1100" b="1" dirty="0">
                <a:solidFill>
                  <a:schemeClr val="tx1"/>
                </a:solidFill>
              </a:rPr>
              <a:t>Running: </a:t>
            </a:r>
            <a:pPr indent="0" marL="0">
              <a:spcAft>
                <a:spcPts val="400"/>
              </a:spcAft>
              <a:buNone/>
            </a:pPr>
            <a:r>
              <a:rPr lang="en-US" sz="1100" dirty="0">
                <a:solidFill>
                  <a:schemeClr val="tx2"/>
                </a:solidFill>
              </a:rPr>
              <a:t>[X] days  ·  </a:t>
            </a:r>
            <a:pPr indent="0" marL="0">
              <a:spcAft>
                <a:spcPts val="400"/>
              </a:spcAft>
              <a:buNone/>
            </a:pPr>
            <a:r>
              <a:rPr lang="en-US" sz="1100" b="1" dirty="0">
                <a:solidFill>
                  <a:schemeClr val="tx1"/>
                </a:solidFill>
              </a:rPr>
              <a:t>Format: </a:t>
            </a:r>
            <a:pPr indent="0" marL="0">
              <a:spcAft>
                <a:spcPts val="400"/>
              </a:spcAft>
              <a:buNone/>
            </a:pPr>
            <a:r>
              <a:rPr lang="en-US" sz="1100" dirty="0">
                <a:solidFill>
                  <a:schemeClr val="tx2"/>
                </a:solidFill>
              </a:rPr>
              <a:t>[UGC / static / VSL]</a:t>
            </a:r>
            <a:endParaRPr lang="en-US" sz="1100" dirty="0"/>
          </a:p>
          <a:p>
            <a:pPr indent="0" marL="0">
              <a:spcAft>
                <a:spcPts val="400"/>
              </a:spcAft>
              <a:buNone/>
            </a:pPr>
            <a:r>
              <a:rPr lang="en-US" sz="1100" b="1" dirty="0">
                <a:solidFill>
                  <a:schemeClr val="tx1"/>
                </a:solidFill>
              </a:rPr>
              <a:t>Hook: </a:t>
            </a:r>
            <a:pPr indent="0" marL="0">
              <a:spcAft>
                <a:spcPts val="400"/>
              </a:spcAft>
              <a:buNone/>
            </a:pPr>
            <a:r>
              <a:rPr lang="en-US" sz="1100" dirty="0">
                <a:solidFill>
                  <a:schemeClr val="tx2"/>
                </a:solidFill>
              </a:rPr>
              <a:t>“[First line / first 3 seconds]”</a:t>
            </a:r>
            <a:endParaRPr lang="en-US" sz="1100" dirty="0"/>
          </a:p>
          <a:p>
            <a:pPr indent="0" marL="0">
              <a:spcAft>
                <a:spcPts val="400"/>
              </a:spcAft>
              <a:buNone/>
            </a:pPr>
            <a:r>
              <a:rPr lang="en-US" sz="1100" b="1" dirty="0">
                <a:solidFill>
                  <a:schemeClr val="tx1"/>
                </a:solidFill>
              </a:rPr>
              <a:t>Why it works: </a:t>
            </a:r>
            <a:pPr indent="0" marL="0">
              <a:spcAft>
                <a:spcPts val="400"/>
              </a:spcAft>
              <a:buNone/>
            </a:pPr>
            <a:r>
              <a:rPr lang="en-US" sz="1100" dirty="0">
                <a:solidFill>
                  <a:schemeClr val="tx2"/>
                </a:solidFill>
              </a:rPr>
              <a:t>[Angle, emotion, proof]</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74320"/>
          </a:xfrm>
          <a:prstGeom prst="rect">
            <a:avLst/>
          </a:prstGeom>
          <a:noFill/>
          <a:ln/>
        </p:spPr>
        <p:txBody>
          <a:bodyPr wrap="square" lIns="0" tIns="0" rIns="0" bIns="0" rtlCol="0"/>
          <a:lstStyle/>
          <a:p>
            <a:pPr indent="0" marL="0">
              <a:buNone/>
            </a:pPr>
            <a:r>
              <a:rPr lang="en-US" sz="1100" b="1" spc="200" kern="0" dirty="0">
                <a:solidFill>
                  <a:schemeClr val="accent1"/>
                </a:solidFill>
              </a:rPr>
              <a:t>CREATIVE DIVERSITY CHECK</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Different ideas, or one idea many times?</a:t>
            </a:r>
            <a:endParaRPr lang="en-US" sz="2600" dirty="0"/>
          </a:p>
        </p:txBody>
      </p:sp>
      <p:sp>
        <p:nvSpPr>
          <p:cNvPr id="4" name="Score card"/>
          <p:cNvSpPr/>
          <p:nvPr/>
        </p:nvSpPr>
        <p:spPr>
          <a:xfrm>
            <a:off x="457200" y="1280160"/>
            <a:ext cx="2377440" cy="3383280"/>
          </a:xfrm>
          <a:prstGeom prst="roundRect">
            <a:avLst>
              <a:gd name="adj" fmla="val 3077"/>
            </a:avLst>
          </a:prstGeom>
          <a:solidFill>
            <a:srgbClr val="16192B"/>
          </a:solidFill>
          <a:ln w="12700">
            <a:solidFill>
              <a:srgbClr val="16192B"/>
            </a:solidFill>
            <a:prstDash val="solid"/>
          </a:ln>
        </p:spPr>
      </p:sp>
      <p:sp>
        <p:nvSpPr>
          <p:cNvPr id="5" name="Score number"/>
          <p:cNvSpPr txBox="1"/>
          <p:nvPr/>
        </p:nvSpPr>
        <p:spPr>
          <a:xfrm>
            <a:off x="640080" y="1645920"/>
            <a:ext cx="2011680" cy="822960"/>
          </a:xfrm>
          <a:prstGeom prst="rect">
            <a:avLst/>
          </a:prstGeom>
          <a:noFill/>
          <a:ln/>
        </p:spPr>
        <p:txBody>
          <a:bodyPr wrap="square" lIns="0" tIns="0" rIns="0" bIns="0" rtlCol="0" anchor="t"/>
          <a:lstStyle/>
          <a:p>
            <a:pPr algn="l" indent="0" marL="0">
              <a:buNone/>
            </a:pPr>
            <a:r>
              <a:rPr lang="en-US" sz="4000" b="1" dirty="0">
                <a:solidFill>
                  <a:schemeClr val="accent1"/>
                </a:solidFill>
              </a:rPr>
              <a:t>[X] / [Y]</a:t>
            </a:r>
            <a:endParaRPr lang="en-US" sz="4000" dirty="0"/>
          </a:p>
        </p:txBody>
      </p:sp>
      <p:sp>
        <p:nvSpPr>
          <p:cNvPr id="6" name="Score label"/>
          <p:cNvSpPr txBox="1"/>
          <p:nvPr/>
        </p:nvSpPr>
        <p:spPr>
          <a:xfrm>
            <a:off x="640080" y="2514600"/>
            <a:ext cx="2011680" cy="731520"/>
          </a:xfrm>
          <a:prstGeom prst="rect">
            <a:avLst/>
          </a:prstGeom>
          <a:noFill/>
          <a:ln/>
        </p:spPr>
        <p:txBody>
          <a:bodyPr wrap="square" lIns="0" tIns="0" rIns="0" bIns="0" rtlCol="0" anchor="t"/>
          <a:lstStyle/>
          <a:p>
            <a:pPr indent="0" marL="0">
              <a:buNone/>
            </a:pPr>
            <a:r>
              <a:rPr lang="en-US" sz="1300" dirty="0">
                <a:solidFill>
                  <a:schemeClr val="bg1"/>
                </a:solidFill>
              </a:rPr>
              <a:t>truly different concepts among [Y] active ads</a:t>
            </a:r>
            <a:endParaRPr lang="en-US" sz="1300" dirty="0"/>
          </a:p>
        </p:txBody>
      </p:sp>
      <p:sp>
        <p:nvSpPr>
          <p:cNvPr id="7" name="Score note"/>
          <p:cNvSpPr txBox="1"/>
          <p:nvPr/>
        </p:nvSpPr>
        <p:spPr>
          <a:xfrm>
            <a:off x="640080" y="3429000"/>
            <a:ext cx="2011680" cy="1005840"/>
          </a:xfrm>
          <a:prstGeom prst="rect">
            <a:avLst/>
          </a:prstGeom>
          <a:noFill/>
          <a:ln/>
        </p:spPr>
        <p:txBody>
          <a:bodyPr wrap="square" lIns="0" tIns="0" rIns="0" bIns="0" rtlCol="0" anchor="t"/>
          <a:lstStyle/>
          <a:p>
            <a:pPr indent="0" marL="0">
              <a:buNone/>
            </a:pPr>
            <a:r>
              <a:rPr lang="en-US" sz="1000" dirty="0">
                <a:solidFill>
                  <a:schemeClr val="accent5"/>
                </a:solidFill>
              </a:rPr>
              <a:t>Meta groups similar-looking ads together, so near-copies compete as one idea.</a:t>
            </a:r>
            <a:endParaRPr lang="en-US" sz="1000" dirty="0"/>
          </a:p>
        </p:txBody>
      </p:sp>
      <p:graphicFrame>
        <p:nvGraphicFramePr>
          <p:cNvPr id="7" name="Diversity table"/>
          <p:cNvGraphicFramePr>
            <a:graphicFrameLocks noGrp="1"/>
          </p:cNvGraphicFramePr>
          <p:nvPr>
            <p:extLst>
              <p:ext uri="{D42A27DB-BD31-4B8C-83A1-F6EECF244321}">
                <p14:modId xmlns:p14="http://schemas.microsoft.com/office/powerpoint/2010/main" val="1579011935"/>
              </p:ext>
            </p:extLst>
          </p:nvPr>
        </p:nvGraphicFramePr>
        <p:xfrm>
          <a:off x="3063240" y="1280160"/>
          <a:ext cx="5623560" cy="914400"/>
        </p:xfrm>
        <a:graphic>
          <a:graphicData uri="http://schemas.openxmlformats.org/drawingml/2006/table">
            <a:tbl>
              <a:tblPr/>
              <a:tblGrid>
                <a:gridCol w="1234440"/>
                <a:gridCol w="2194560"/>
                <a:gridCol w="2194560"/>
              </a:tblGrid>
              <a:tr h="548640">
                <a:tc>
                  <a:txBody>
                    <a:bodyPr/>
                    <a:lstStyle/>
                    <a:p>
                      <a:pPr indent="0" marL="0">
                        <a:buNone/>
                      </a:pPr>
                      <a:r>
                        <a:rPr lang="en-US" sz="1100" b="1" dirty="0">
                          <a:solidFill>
                            <a:srgbClr val="FFFFFF"/>
                          </a:solidFill>
                        </a:rPr>
                        <a:t>Dimension</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16192B"/>
                    </a:solidFill>
                  </a:tcPr>
                </a:tc>
                <a:tc>
                  <a:txBody>
                    <a:bodyPr/>
                    <a:lstStyle/>
                    <a:p>
                      <a:pPr indent="0" marL="0">
                        <a:buNone/>
                      </a:pPr>
                      <a:r>
                        <a:rPr lang="en-US" sz="1100" b="1" dirty="0">
                          <a:solidFill>
                            <a:srgbClr val="FFFFFF"/>
                          </a:solidFill>
                        </a:rPr>
                        <a:t>What they run</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16192B"/>
                    </a:solidFill>
                  </a:tcPr>
                </a:tc>
                <a:tc>
                  <a:txBody>
                    <a:bodyPr/>
                    <a:lstStyle/>
                    <a:p>
                      <a:pPr indent="0" marL="0">
                        <a:buNone/>
                      </a:pPr>
                      <a:r>
                        <a:rPr lang="en-US" sz="1100" b="1" dirty="0">
                          <a:solidFill>
                            <a:srgbClr val="FFFFFF"/>
                          </a:solidFill>
                        </a:rPr>
                        <a:t>What's missing</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16192B"/>
                    </a:solidFill>
                  </a:tcPr>
                </a:tc>
              </a:tr>
              <a:tr h="548640">
                <a:tc>
                  <a:txBody>
                    <a:bodyPr/>
                    <a:lstStyle/>
                    <a:p>
                      <a:pPr indent="0" marL="0">
                        <a:buNone/>
                      </a:pPr>
                      <a:r>
                        <a:rPr lang="en-US" sz="1100" b="1" dirty="0">
                          <a:solidFill>
                            <a:srgbClr val="16192B"/>
                          </a:solidFill>
                        </a:rPr>
                        <a:t>Angle</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c>
                  <a:txBody>
                    <a:bodyPr/>
                    <a:lstStyle/>
                    <a:p>
                      <a:pPr indent="0" marL="0">
                        <a:buNone/>
                      </a:pPr>
                      <a:r>
                        <a:rPr lang="en-US" sz="1100" dirty="0">
                          <a:solidFill>
                            <a:srgbClr val="4A4F68"/>
                          </a:solidFill>
                        </a:rPr>
                        <a:t>[e.g. hot flashes]</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c>
                  <a:txBody>
                    <a:bodyPr/>
                    <a:lstStyle/>
                    <a:p>
                      <a:pPr indent="0" marL="0">
                        <a:buNone/>
                      </a:pPr>
                      <a:r>
                        <a:rPr lang="en-US" sz="1100" dirty="0">
                          <a:solidFill>
                            <a:srgbClr val="4A4F68"/>
                          </a:solidFill>
                        </a:rPr>
                        <a:t>[e.g. sleep, weight]</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r>
              <a:tr h="548640">
                <a:tc>
                  <a:txBody>
                    <a:bodyPr/>
                    <a:lstStyle/>
                    <a:p>
                      <a:pPr indent="0" marL="0">
                        <a:buNone/>
                      </a:pPr>
                      <a:r>
                        <a:rPr lang="en-US" sz="1100" b="1" dirty="0">
                          <a:solidFill>
                            <a:srgbClr val="16192B"/>
                          </a:solidFill>
                        </a:rPr>
                        <a:t>Persona</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FFFFF"/>
                    </a:solidFill>
                  </a:tcPr>
                </a:tc>
                <a:tc>
                  <a:txBody>
                    <a:bodyPr/>
                    <a:lstStyle/>
                    <a:p>
                      <a:pPr indent="0" marL="0">
                        <a:buNone/>
                      </a:pPr>
                      <a:r>
                        <a:rPr lang="en-US" sz="1100" dirty="0">
                          <a:solidFill>
                            <a:srgbClr val="4A4F68"/>
                          </a:solidFill>
                        </a:rPr>
                        <a:t>[e.g. 50+ menopause]</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FFFFF"/>
                    </a:solidFill>
                  </a:tcPr>
                </a:tc>
                <a:tc>
                  <a:txBody>
                    <a:bodyPr/>
                    <a:lstStyle/>
                    <a:p>
                      <a:pPr indent="0" marL="0">
                        <a:buNone/>
                      </a:pPr>
                      <a:r>
                        <a:rPr lang="en-US" sz="1100" dirty="0">
                          <a:solidFill>
                            <a:srgbClr val="4A4F68"/>
                          </a:solidFill>
                        </a:rPr>
                        <a:t>[e.g. perimenopause, 40s]</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16192B"/>
                          </a:solidFill>
                        </a:rPr>
                        <a:t>Format</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c>
                  <a:txBody>
                    <a:bodyPr/>
                    <a:lstStyle/>
                    <a:p>
                      <a:pPr indent="0" marL="0">
                        <a:buNone/>
                      </a:pPr>
                      <a:r>
                        <a:rPr lang="en-US" sz="1100" dirty="0">
                          <a:solidFill>
                            <a:srgbClr val="4A4F68"/>
                          </a:solidFill>
                        </a:rPr>
                        <a:t>[e.g. statics]</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c>
                  <a:txBody>
                    <a:bodyPr/>
                    <a:lstStyle/>
                    <a:p>
                      <a:pPr indent="0" marL="0">
                        <a:buNone/>
                      </a:pPr>
                      <a:r>
                        <a:rPr lang="en-US" sz="1100" dirty="0">
                          <a:solidFill>
                            <a:srgbClr val="4A4F68"/>
                          </a:solidFill>
                        </a:rPr>
                        <a:t>[e.g. UGC, founder]</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r>
              <a:tr h="548640">
                <a:tc>
                  <a:txBody>
                    <a:bodyPr/>
                    <a:lstStyle/>
                    <a:p>
                      <a:pPr indent="0" marL="0">
                        <a:buNone/>
                      </a:pPr>
                      <a:r>
                        <a:rPr lang="en-US" sz="1100" b="1" dirty="0">
                          <a:solidFill>
                            <a:srgbClr val="16192B"/>
                          </a:solidFill>
                        </a:rPr>
                        <a:t>Awareness</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FFFFF"/>
                    </a:solidFill>
                  </a:tcPr>
                </a:tc>
                <a:tc>
                  <a:txBody>
                    <a:bodyPr/>
                    <a:lstStyle/>
                    <a:p>
                      <a:pPr indent="0" marL="0">
                        <a:buNone/>
                      </a:pPr>
                      <a:r>
                        <a:rPr lang="en-US" sz="1100" dirty="0">
                          <a:solidFill>
                            <a:srgbClr val="4A4F68"/>
                          </a:solidFill>
                        </a:rPr>
                        <a:t>[e.g. product-aware]</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FFFFF"/>
                    </a:solidFill>
                  </a:tcPr>
                </a:tc>
                <a:tc>
                  <a:txBody>
                    <a:bodyPr/>
                    <a:lstStyle/>
                    <a:p>
                      <a:pPr indent="0" marL="0">
                        <a:buNone/>
                      </a:pPr>
                      <a:r>
                        <a:rPr lang="en-US" sz="1100" dirty="0">
                          <a:solidFill>
                            <a:srgbClr val="4A4F68"/>
                          </a:solidFill>
                        </a:rPr>
                        <a:t>[e.g. problem-aware]</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16192B"/>
                          </a:solidFill>
                        </a:rPr>
                        <a:t>Hook style</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c>
                  <a:txBody>
                    <a:bodyPr/>
                    <a:lstStyle/>
                    <a:p>
                      <a:pPr indent="0" marL="0">
                        <a:buNone/>
                      </a:pPr>
                      <a:r>
                        <a:rPr lang="en-US" sz="1100" dirty="0">
                          <a:solidFill>
                            <a:srgbClr val="4A4F68"/>
                          </a:solidFill>
                        </a:rPr>
                        <a:t>[e.g. offer-led]</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c>
                  <a:txBody>
                    <a:bodyPr/>
                    <a:lstStyle/>
                    <a:p>
                      <a:pPr indent="0" marL="0">
                        <a:buNone/>
                      </a:pPr>
                      <a:r>
                        <a:rPr lang="en-US" sz="1100" dirty="0">
                          <a:solidFill>
                            <a:srgbClr val="4A4F68"/>
                          </a:solidFill>
                        </a:rPr>
                        <a:t>[e.g. story, myth-bust]</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r>
            </a:tbl>
          </a:graphicData>
        </a:graphic>
      </p:graphicFrame>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74320"/>
          </a:xfrm>
          <a:prstGeom prst="rect">
            <a:avLst/>
          </a:prstGeom>
          <a:noFill/>
          <a:ln/>
        </p:spPr>
        <p:txBody>
          <a:bodyPr wrap="square" lIns="0" tIns="0" rIns="0" bIns="0" rtlCol="0"/>
          <a:lstStyle/>
          <a:p>
            <a:pPr indent="0" marL="0">
              <a:buNone/>
            </a:pPr>
            <a:r>
              <a:rPr lang="en-US" sz="1100" b="1" spc="200" kern="0" dirty="0">
                <a:solidFill>
                  <a:schemeClr val="accent1"/>
                </a:solidFill>
              </a:rPr>
              <a:t>PERSONA MAP</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Who the ads speak to, and who they miss</a:t>
            </a:r>
            <a:endParaRPr lang="en-US" sz="2600" dirty="0"/>
          </a:p>
        </p:txBody>
      </p:sp>
      <p:sp>
        <p:nvSpPr>
          <p:cNvPr id="4" name="Covered header"/>
          <p:cNvSpPr txBox="1"/>
          <p:nvPr/>
        </p:nvSpPr>
        <p:spPr>
          <a:xfrm>
            <a:off x="457200" y="1234440"/>
            <a:ext cx="4023360" cy="320040"/>
          </a:xfrm>
          <a:prstGeom prst="rect">
            <a:avLst/>
          </a:prstGeom>
          <a:noFill/>
          <a:ln/>
        </p:spPr>
        <p:txBody>
          <a:bodyPr wrap="square" lIns="0" tIns="0" rIns="0" bIns="0" rtlCol="0" anchor="t"/>
          <a:lstStyle/>
          <a:p>
            <a:pPr indent="0" marL="0">
              <a:buNone/>
            </a:pPr>
            <a:r>
              <a:rPr lang="en-US" sz="1500" b="1" dirty="0">
                <a:solidFill>
                  <a:schemeClr val="accent3"/>
                </a:solidFill>
              </a:rPr>
              <a:t>Covered</a:t>
            </a:r>
            <a:endParaRPr lang="en-US" sz="1500" dirty="0"/>
          </a:p>
        </p:txBody>
      </p:sp>
      <p:sp>
        <p:nvSpPr>
          <p:cNvPr id="5" name="Missing header"/>
          <p:cNvSpPr txBox="1"/>
          <p:nvPr/>
        </p:nvSpPr>
        <p:spPr>
          <a:xfrm>
            <a:off x="4663440" y="1234440"/>
            <a:ext cx="4023360" cy="320040"/>
          </a:xfrm>
          <a:prstGeom prst="rect">
            <a:avLst/>
          </a:prstGeom>
          <a:noFill/>
          <a:ln/>
        </p:spPr>
        <p:txBody>
          <a:bodyPr wrap="square" lIns="0" tIns="0" rIns="0" bIns="0" rtlCol="0" anchor="t"/>
          <a:lstStyle/>
          <a:p>
            <a:pPr indent="0" marL="0">
              <a:buNone/>
            </a:pPr>
            <a:r>
              <a:rPr lang="en-US" sz="1500" b="1" dirty="0">
                <a:solidFill>
                  <a:schemeClr val="accent1"/>
                </a:solidFill>
              </a:rPr>
              <a:t>Missing (opportunity)</a:t>
            </a:r>
            <a:endParaRPr lang="en-US" sz="1500" dirty="0"/>
          </a:p>
        </p:txBody>
      </p:sp>
      <p:sp>
        <p:nvSpPr>
          <p:cNvPr id="6" name="Covered persona 1"/>
          <p:cNvSpPr/>
          <p:nvPr/>
        </p:nvSpPr>
        <p:spPr>
          <a:xfrm>
            <a:off x="457200" y="1645920"/>
            <a:ext cx="4023360" cy="1325880"/>
          </a:xfrm>
          <a:prstGeom prst="roundRect">
            <a:avLst>
              <a:gd name="adj" fmla="val 5517"/>
            </a:avLst>
          </a:prstGeom>
          <a:solidFill>
            <a:schemeClr val="bg2"/>
          </a:solidFill>
          <a:ln w="12700">
            <a:solidFill>
              <a:schemeClr val="bg2"/>
            </a:solidFill>
            <a:prstDash val="solid"/>
          </a:ln>
        </p:spPr>
      </p:sp>
      <p:sp>
        <p:nvSpPr>
          <p:cNvPr id="7" name="Covered persona 1 text"/>
          <p:cNvSpPr txBox="1"/>
          <p:nvPr/>
        </p:nvSpPr>
        <p:spPr>
          <a:xfrm>
            <a:off x="640080" y="1783080"/>
            <a:ext cx="3657600" cy="1051560"/>
          </a:xfrm>
          <a:prstGeom prst="rect">
            <a:avLst/>
          </a:prstGeom>
          <a:noFill/>
          <a:ln/>
        </p:spPr>
        <p:txBody>
          <a:bodyPr wrap="square" lIns="0" tIns="0" rIns="0" bIns="0" rtlCol="0" anchor="t"/>
          <a:lstStyle/>
          <a:p>
            <a:pPr indent="0" marL="0">
              <a:buNone/>
            </a:pPr>
            <a:r>
              <a:rPr lang="en-US" sz="1400" b="1" dirty="0">
                <a:solidFill>
                  <a:schemeClr val="tx1"/>
                </a:solidFill>
              </a:rPr>
              <a:t>[Persona name]</a:t>
            </a:r>
            <a:endParaRPr lang="en-US" sz="1100" dirty="0"/>
          </a:p>
          <a:p>
            <a:pPr indent="0" marL="0">
              <a:buNone/>
            </a:pPr>
            <a:r>
              <a:rPr lang="en-US" sz="1100" dirty="0">
                <a:solidFill>
                  <a:schemeClr val="tx2"/>
                </a:solidFill>
              </a:rPr>
              <a:t>[Who she is, main pain, how the ads speak to her]</a:t>
            </a:r>
            <a:endParaRPr lang="en-US" sz="1100" dirty="0"/>
          </a:p>
        </p:txBody>
      </p:sp>
      <p:sp>
        <p:nvSpPr>
          <p:cNvPr id="8" name="Missing persona 1"/>
          <p:cNvSpPr/>
          <p:nvPr/>
        </p:nvSpPr>
        <p:spPr>
          <a:xfrm>
            <a:off x="4663440" y="1645920"/>
            <a:ext cx="4023360" cy="1325880"/>
          </a:xfrm>
          <a:prstGeom prst="roundRect">
            <a:avLst>
              <a:gd name="adj" fmla="val 5517"/>
            </a:avLst>
          </a:prstGeom>
          <a:solidFill>
            <a:srgbClr val="FFD8CF"/>
          </a:solidFill>
          <a:ln w="12700">
            <a:solidFill>
              <a:srgbClr val="FFD8CF"/>
            </a:solidFill>
            <a:prstDash val="solid"/>
          </a:ln>
        </p:spPr>
      </p:sp>
      <p:sp>
        <p:nvSpPr>
          <p:cNvPr id="9" name="Missing persona 1 text"/>
          <p:cNvSpPr txBox="1"/>
          <p:nvPr/>
        </p:nvSpPr>
        <p:spPr>
          <a:xfrm>
            <a:off x="4846320" y="1783080"/>
            <a:ext cx="3657600" cy="1051560"/>
          </a:xfrm>
          <a:prstGeom prst="rect">
            <a:avLst/>
          </a:prstGeom>
          <a:noFill/>
          <a:ln/>
        </p:spPr>
        <p:txBody>
          <a:bodyPr wrap="square" lIns="0" tIns="0" rIns="0" bIns="0" rtlCol="0" anchor="t"/>
          <a:lstStyle/>
          <a:p>
            <a:pPr indent="0" marL="0">
              <a:buNone/>
            </a:pPr>
            <a:r>
              <a:rPr lang="en-US" sz="1400" b="1" dirty="0">
                <a:solidFill>
                  <a:schemeClr val="tx1"/>
                </a:solidFill>
              </a:rPr>
              <a:t>[Persona name]</a:t>
            </a:r>
            <a:endParaRPr lang="en-US" sz="1100" dirty="0"/>
          </a:p>
          <a:p>
            <a:pPr indent="0" marL="0">
              <a:buNone/>
            </a:pPr>
            <a:r>
              <a:rPr lang="en-US" sz="1100" dirty="0">
                <a:solidFill>
                  <a:schemeClr val="tx2"/>
                </a:solidFill>
              </a:rPr>
              <a:t>[Who she is, evidence she buys (reviews/comments), the angle to reach her]</a:t>
            </a:r>
            <a:endParaRPr lang="en-US" sz="1100" dirty="0"/>
          </a:p>
        </p:txBody>
      </p:sp>
      <p:sp>
        <p:nvSpPr>
          <p:cNvPr id="10" name="Covered persona 2"/>
          <p:cNvSpPr/>
          <p:nvPr/>
        </p:nvSpPr>
        <p:spPr>
          <a:xfrm>
            <a:off x="457200" y="3154680"/>
            <a:ext cx="4023360" cy="1325880"/>
          </a:xfrm>
          <a:prstGeom prst="roundRect">
            <a:avLst>
              <a:gd name="adj" fmla="val 5517"/>
            </a:avLst>
          </a:prstGeom>
          <a:solidFill>
            <a:schemeClr val="bg2"/>
          </a:solidFill>
          <a:ln w="12700">
            <a:solidFill>
              <a:schemeClr val="bg2"/>
            </a:solidFill>
            <a:prstDash val="solid"/>
          </a:ln>
        </p:spPr>
      </p:sp>
      <p:sp>
        <p:nvSpPr>
          <p:cNvPr id="11" name="Covered persona 2 text"/>
          <p:cNvSpPr txBox="1"/>
          <p:nvPr/>
        </p:nvSpPr>
        <p:spPr>
          <a:xfrm>
            <a:off x="640080" y="3291840"/>
            <a:ext cx="3657600" cy="1051560"/>
          </a:xfrm>
          <a:prstGeom prst="rect">
            <a:avLst/>
          </a:prstGeom>
          <a:noFill/>
          <a:ln/>
        </p:spPr>
        <p:txBody>
          <a:bodyPr wrap="square" lIns="0" tIns="0" rIns="0" bIns="0" rtlCol="0" anchor="t"/>
          <a:lstStyle/>
          <a:p>
            <a:pPr indent="0" marL="0">
              <a:buNone/>
            </a:pPr>
            <a:r>
              <a:rPr lang="en-US" sz="1400" b="1" dirty="0">
                <a:solidFill>
                  <a:schemeClr val="tx1"/>
                </a:solidFill>
              </a:rPr>
              <a:t>[Persona name]</a:t>
            </a:r>
            <a:endParaRPr lang="en-US" sz="1100" dirty="0"/>
          </a:p>
          <a:p>
            <a:pPr indent="0" marL="0">
              <a:buNone/>
            </a:pPr>
            <a:r>
              <a:rPr lang="en-US" sz="1100" dirty="0">
                <a:solidFill>
                  <a:schemeClr val="tx2"/>
                </a:solidFill>
              </a:rPr>
              <a:t>[Who she is, main pain, how the ads speak to her]</a:t>
            </a:r>
            <a:endParaRPr lang="en-US" sz="1100" dirty="0"/>
          </a:p>
        </p:txBody>
      </p:sp>
      <p:sp>
        <p:nvSpPr>
          <p:cNvPr id="12" name="Missing persona 2"/>
          <p:cNvSpPr/>
          <p:nvPr/>
        </p:nvSpPr>
        <p:spPr>
          <a:xfrm>
            <a:off x="4663440" y="3154680"/>
            <a:ext cx="4023360" cy="1325880"/>
          </a:xfrm>
          <a:prstGeom prst="roundRect">
            <a:avLst>
              <a:gd name="adj" fmla="val 5517"/>
            </a:avLst>
          </a:prstGeom>
          <a:solidFill>
            <a:srgbClr val="FFD8CF"/>
          </a:solidFill>
          <a:ln w="12700">
            <a:solidFill>
              <a:srgbClr val="FFD8CF"/>
            </a:solidFill>
            <a:prstDash val="solid"/>
          </a:ln>
        </p:spPr>
      </p:sp>
      <p:sp>
        <p:nvSpPr>
          <p:cNvPr id="13" name="Missing persona 2 text"/>
          <p:cNvSpPr txBox="1"/>
          <p:nvPr/>
        </p:nvSpPr>
        <p:spPr>
          <a:xfrm>
            <a:off x="4846320" y="3291840"/>
            <a:ext cx="3657600" cy="1051560"/>
          </a:xfrm>
          <a:prstGeom prst="rect">
            <a:avLst/>
          </a:prstGeom>
          <a:noFill/>
          <a:ln/>
        </p:spPr>
        <p:txBody>
          <a:bodyPr wrap="square" lIns="0" tIns="0" rIns="0" bIns="0" rtlCol="0" anchor="t"/>
          <a:lstStyle/>
          <a:p>
            <a:pPr indent="0" marL="0">
              <a:buNone/>
            </a:pPr>
            <a:r>
              <a:rPr lang="en-US" sz="1400" b="1" dirty="0">
                <a:solidFill>
                  <a:schemeClr val="tx1"/>
                </a:solidFill>
              </a:rPr>
              <a:t>[Persona name]</a:t>
            </a:r>
            <a:endParaRPr lang="en-US" sz="1100" dirty="0"/>
          </a:p>
          <a:p>
            <a:pPr indent="0" marL="0">
              <a:buNone/>
            </a:pPr>
            <a:r>
              <a:rPr lang="en-US" sz="1100" dirty="0">
                <a:solidFill>
                  <a:schemeClr val="tx2"/>
                </a:solidFill>
              </a:rPr>
              <a:t>[Who she is, evidence she buys (reviews/comments), the angle to reach her]</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74320"/>
          </a:xfrm>
          <a:prstGeom prst="rect">
            <a:avLst/>
          </a:prstGeom>
          <a:noFill/>
          <a:ln/>
        </p:spPr>
        <p:txBody>
          <a:bodyPr wrap="square" lIns="0" tIns="0" rIns="0" bIns="0" rtlCol="0"/>
          <a:lstStyle/>
          <a:p>
            <a:pPr indent="0" marL="0">
              <a:buNone/>
            </a:pPr>
            <a:r>
              <a:rPr lang="en-US" sz="1100" b="1" spc="200" kern="0" dirty="0">
                <a:solidFill>
                  <a:schemeClr val="accent1"/>
                </a:solidFill>
              </a:rPr>
              <a:t>COMPETITORS</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What competitors do that you don't</a:t>
            </a:r>
            <a:endParaRPr lang="en-US" sz="2600" dirty="0"/>
          </a:p>
        </p:txBody>
      </p:sp>
      <p:sp>
        <p:nvSpPr>
          <p:cNvPr id="4" name="Competitor 1 name"/>
          <p:cNvSpPr txBox="1"/>
          <p:nvPr/>
        </p:nvSpPr>
        <p:spPr>
          <a:xfrm>
            <a:off x="457200" y="1234440"/>
            <a:ext cx="2606040" cy="320040"/>
          </a:xfrm>
          <a:prstGeom prst="rect">
            <a:avLst/>
          </a:prstGeom>
          <a:noFill/>
          <a:ln/>
        </p:spPr>
        <p:txBody>
          <a:bodyPr wrap="square" lIns="0" tIns="0" rIns="0" bIns="0" rtlCol="0" anchor="t"/>
          <a:lstStyle/>
          <a:p>
            <a:pPr indent="0" marL="0">
              <a:buNone/>
            </a:pPr>
            <a:r>
              <a:rPr lang="en-US" sz="1500" b="1" dirty="0">
                <a:solidFill>
                  <a:schemeClr val="tx1"/>
                </a:solidFill>
              </a:rPr>
              <a:t>[Competitor 1]</a:t>
            </a:r>
            <a:endParaRPr lang="en-US" sz="1500" dirty="0"/>
          </a:p>
        </p:txBody>
      </p:sp>
      <p:sp>
        <p:nvSpPr>
          <p:cNvPr id="5" name="Competitor 1 screenshot"/>
          <p:cNvSpPr/>
          <p:nvPr/>
        </p:nvSpPr>
        <p:spPr>
          <a:xfrm>
            <a:off x="457200" y="1645920"/>
            <a:ext cx="2606040" cy="1371600"/>
          </a:xfrm>
          <a:prstGeom prst="roundRect">
            <a:avLst>
              <a:gd name="adj" fmla="val 4000"/>
            </a:avLst>
          </a:prstGeom>
          <a:solidFill>
            <a:schemeClr val="bg1"/>
          </a:solidFill>
          <a:ln w="12700">
            <a:solidFill>
              <a:schemeClr val="accent5"/>
            </a:solidFill>
            <a:prstDash val="dash"/>
          </a:ln>
        </p:spPr>
      </p:sp>
      <p:sp>
        <p:nvSpPr>
          <p:cNvPr id="6" name="Competitor 1 screenshot label"/>
          <p:cNvSpPr txBox="1"/>
          <p:nvPr/>
        </p:nvSpPr>
        <p:spPr>
          <a:xfrm>
            <a:off x="457200" y="1645920"/>
            <a:ext cx="2606040" cy="1371600"/>
          </a:xfrm>
          <a:prstGeom prst="rect">
            <a:avLst/>
          </a:prstGeom>
          <a:noFill/>
          <a:ln/>
        </p:spPr>
        <p:txBody>
          <a:bodyPr wrap="square" rtlCol="0" anchor="ctr"/>
          <a:lstStyle/>
          <a:p>
            <a:pPr algn="ctr" indent="0" marL="0">
              <a:buNone/>
            </a:pPr>
            <a:r>
              <a:rPr lang="en-US" sz="1000" i="1" dirty="0">
                <a:solidFill>
                  <a:schemeClr val="accent5"/>
                </a:solidFill>
              </a:rPr>
              <a:t>[Their best ad]</a:t>
            </a:r>
            <a:endParaRPr lang="en-US" sz="1000" dirty="0"/>
          </a:p>
        </p:txBody>
      </p:sp>
      <p:sp>
        <p:nvSpPr>
          <p:cNvPr id="7" name="Competitor 1 notes"/>
          <p:cNvSpPr txBox="1"/>
          <p:nvPr/>
        </p:nvSpPr>
        <p:spPr>
          <a:xfrm>
            <a:off x="457200" y="3108960"/>
            <a:ext cx="2606040" cy="1554480"/>
          </a:xfrm>
          <a:prstGeom prst="rect">
            <a:avLst/>
          </a:prstGeom>
          <a:noFill/>
          <a:ln/>
        </p:spPr>
        <p:txBody>
          <a:bodyPr wrap="square" lIns="0" tIns="0" rIns="0" bIns="0" rtlCol="0" anchor="t"/>
          <a:lstStyle/>
          <a:p>
            <a:pPr indent="0" marL="0">
              <a:spcAft>
                <a:spcPts val="400"/>
              </a:spcAft>
              <a:buNone/>
            </a:pPr>
            <a:r>
              <a:rPr lang="en-US" sz="1100" b="1" dirty="0">
                <a:solidFill>
                  <a:schemeClr val="tx1"/>
                </a:solidFill>
              </a:rPr>
              <a:t>Formats &amp; strategy: </a:t>
            </a:r>
            <a:pPr indent="0" marL="0">
              <a:spcAft>
                <a:spcPts val="400"/>
              </a:spcAft>
              <a:buNone/>
            </a:pPr>
            <a:r>
              <a:rPr lang="en-US" sz="1100" dirty="0">
                <a:solidFill>
                  <a:schemeClr val="tx2"/>
                </a:solidFill>
              </a:rPr>
              <a:t>[...]</a:t>
            </a:r>
            <a:endParaRPr lang="en-US" sz="1100" dirty="0"/>
          </a:p>
          <a:p>
            <a:pPr indent="0" marL="0">
              <a:spcAft>
                <a:spcPts val="400"/>
              </a:spcAft>
              <a:buNone/>
            </a:pPr>
            <a:r>
              <a:rPr lang="en-US" sz="1100" b="1" dirty="0">
                <a:solidFill>
                  <a:schemeClr val="tx1"/>
                </a:solidFill>
              </a:rPr>
              <a:t>Creators/talent: </a:t>
            </a:r>
            <a:pPr indent="0" marL="0">
              <a:spcAft>
                <a:spcPts val="400"/>
              </a:spcAft>
              <a:buNone/>
            </a:pPr>
            <a:r>
              <a:rPr lang="en-US" sz="1100" dirty="0">
                <a:solidFill>
                  <a:schemeClr val="tx2"/>
                </a:solidFill>
              </a:rPr>
              <a:t>[...]</a:t>
            </a:r>
            <a:endParaRPr lang="en-US" sz="1100" dirty="0"/>
          </a:p>
          <a:p>
            <a:pPr indent="0" marL="0">
              <a:spcAft>
                <a:spcPts val="400"/>
              </a:spcAft>
              <a:buNone/>
            </a:pPr>
            <a:r>
              <a:rPr lang="en-US" sz="1100" b="1" dirty="0">
                <a:solidFill>
                  <a:schemeClr val="accent1"/>
                </a:solidFill>
              </a:rPr>
              <a:t>Lesson for [Brand]: </a:t>
            </a:r>
            <a:pPr indent="0" marL="0">
              <a:spcAft>
                <a:spcPts val="400"/>
              </a:spcAft>
              <a:buNone/>
            </a:pPr>
            <a:r>
              <a:rPr lang="en-US" sz="1100" dirty="0">
                <a:solidFill>
                  <a:schemeClr val="tx2"/>
                </a:solidFill>
              </a:rPr>
              <a:t>[...]</a:t>
            </a:r>
            <a:endParaRPr lang="en-US" sz="1100" dirty="0"/>
          </a:p>
        </p:txBody>
      </p:sp>
      <p:sp>
        <p:nvSpPr>
          <p:cNvPr id="8" name="Competitor 2 name"/>
          <p:cNvSpPr txBox="1"/>
          <p:nvPr/>
        </p:nvSpPr>
        <p:spPr>
          <a:xfrm>
            <a:off x="3268980" y="1234440"/>
            <a:ext cx="2606040" cy="320040"/>
          </a:xfrm>
          <a:prstGeom prst="rect">
            <a:avLst/>
          </a:prstGeom>
          <a:noFill/>
          <a:ln/>
        </p:spPr>
        <p:txBody>
          <a:bodyPr wrap="square" lIns="0" tIns="0" rIns="0" bIns="0" rtlCol="0" anchor="t"/>
          <a:lstStyle/>
          <a:p>
            <a:pPr indent="0" marL="0">
              <a:buNone/>
            </a:pPr>
            <a:r>
              <a:rPr lang="en-US" sz="1500" b="1" dirty="0">
                <a:solidFill>
                  <a:schemeClr val="tx1"/>
                </a:solidFill>
              </a:rPr>
              <a:t>[Competitor 2]</a:t>
            </a:r>
            <a:endParaRPr lang="en-US" sz="1500" dirty="0"/>
          </a:p>
        </p:txBody>
      </p:sp>
      <p:sp>
        <p:nvSpPr>
          <p:cNvPr id="9" name="Competitor 2 screenshot"/>
          <p:cNvSpPr/>
          <p:nvPr/>
        </p:nvSpPr>
        <p:spPr>
          <a:xfrm>
            <a:off x="3268980" y="1645920"/>
            <a:ext cx="2606040" cy="1371600"/>
          </a:xfrm>
          <a:prstGeom prst="roundRect">
            <a:avLst>
              <a:gd name="adj" fmla="val 4000"/>
            </a:avLst>
          </a:prstGeom>
          <a:solidFill>
            <a:schemeClr val="bg1"/>
          </a:solidFill>
          <a:ln w="12700">
            <a:solidFill>
              <a:schemeClr val="accent5"/>
            </a:solidFill>
            <a:prstDash val="dash"/>
          </a:ln>
        </p:spPr>
      </p:sp>
      <p:sp>
        <p:nvSpPr>
          <p:cNvPr id="10" name="Competitor 2 screenshot label"/>
          <p:cNvSpPr txBox="1"/>
          <p:nvPr/>
        </p:nvSpPr>
        <p:spPr>
          <a:xfrm>
            <a:off x="3268980" y="1645920"/>
            <a:ext cx="2606040" cy="1371600"/>
          </a:xfrm>
          <a:prstGeom prst="rect">
            <a:avLst/>
          </a:prstGeom>
          <a:noFill/>
          <a:ln/>
        </p:spPr>
        <p:txBody>
          <a:bodyPr wrap="square" rtlCol="0" anchor="ctr"/>
          <a:lstStyle/>
          <a:p>
            <a:pPr algn="ctr" indent="0" marL="0">
              <a:buNone/>
            </a:pPr>
            <a:r>
              <a:rPr lang="en-US" sz="1000" i="1" dirty="0">
                <a:solidFill>
                  <a:schemeClr val="accent5"/>
                </a:solidFill>
              </a:rPr>
              <a:t>[Their best ad]</a:t>
            </a:r>
            <a:endParaRPr lang="en-US" sz="1000" dirty="0"/>
          </a:p>
        </p:txBody>
      </p:sp>
      <p:sp>
        <p:nvSpPr>
          <p:cNvPr id="11" name="Competitor 2 notes"/>
          <p:cNvSpPr txBox="1"/>
          <p:nvPr/>
        </p:nvSpPr>
        <p:spPr>
          <a:xfrm>
            <a:off x="3268980" y="3108960"/>
            <a:ext cx="2606040" cy="1554480"/>
          </a:xfrm>
          <a:prstGeom prst="rect">
            <a:avLst/>
          </a:prstGeom>
          <a:noFill/>
          <a:ln/>
        </p:spPr>
        <p:txBody>
          <a:bodyPr wrap="square" lIns="0" tIns="0" rIns="0" bIns="0" rtlCol="0" anchor="t"/>
          <a:lstStyle/>
          <a:p>
            <a:pPr indent="0" marL="0">
              <a:spcAft>
                <a:spcPts val="400"/>
              </a:spcAft>
              <a:buNone/>
            </a:pPr>
            <a:r>
              <a:rPr lang="en-US" sz="1100" b="1" dirty="0">
                <a:solidFill>
                  <a:schemeClr val="tx1"/>
                </a:solidFill>
              </a:rPr>
              <a:t>Formats &amp; strategy: </a:t>
            </a:r>
            <a:pPr indent="0" marL="0">
              <a:spcAft>
                <a:spcPts val="400"/>
              </a:spcAft>
              <a:buNone/>
            </a:pPr>
            <a:r>
              <a:rPr lang="en-US" sz="1100" dirty="0">
                <a:solidFill>
                  <a:schemeClr val="tx2"/>
                </a:solidFill>
              </a:rPr>
              <a:t>[...]</a:t>
            </a:r>
            <a:endParaRPr lang="en-US" sz="1100" dirty="0"/>
          </a:p>
          <a:p>
            <a:pPr indent="0" marL="0">
              <a:spcAft>
                <a:spcPts val="400"/>
              </a:spcAft>
              <a:buNone/>
            </a:pPr>
            <a:r>
              <a:rPr lang="en-US" sz="1100" b="1" dirty="0">
                <a:solidFill>
                  <a:schemeClr val="tx1"/>
                </a:solidFill>
              </a:rPr>
              <a:t>Creators/talent: </a:t>
            </a:r>
            <a:pPr indent="0" marL="0">
              <a:spcAft>
                <a:spcPts val="400"/>
              </a:spcAft>
              <a:buNone/>
            </a:pPr>
            <a:r>
              <a:rPr lang="en-US" sz="1100" dirty="0">
                <a:solidFill>
                  <a:schemeClr val="tx2"/>
                </a:solidFill>
              </a:rPr>
              <a:t>[...]</a:t>
            </a:r>
            <a:endParaRPr lang="en-US" sz="1100" dirty="0"/>
          </a:p>
          <a:p>
            <a:pPr indent="0" marL="0">
              <a:spcAft>
                <a:spcPts val="400"/>
              </a:spcAft>
              <a:buNone/>
            </a:pPr>
            <a:r>
              <a:rPr lang="en-US" sz="1100" b="1" dirty="0">
                <a:solidFill>
                  <a:schemeClr val="accent1"/>
                </a:solidFill>
              </a:rPr>
              <a:t>Lesson for [Brand]: </a:t>
            </a:r>
            <a:pPr indent="0" marL="0">
              <a:spcAft>
                <a:spcPts val="400"/>
              </a:spcAft>
              <a:buNone/>
            </a:pPr>
            <a:r>
              <a:rPr lang="en-US" sz="1100" dirty="0">
                <a:solidFill>
                  <a:schemeClr val="tx2"/>
                </a:solidFill>
              </a:rPr>
              <a:t>[...]</a:t>
            </a:r>
            <a:endParaRPr lang="en-US" sz="1100" dirty="0"/>
          </a:p>
        </p:txBody>
      </p:sp>
      <p:sp>
        <p:nvSpPr>
          <p:cNvPr id="12" name="Competitor 3 name"/>
          <p:cNvSpPr txBox="1"/>
          <p:nvPr/>
        </p:nvSpPr>
        <p:spPr>
          <a:xfrm>
            <a:off x="6080760" y="1234440"/>
            <a:ext cx="2606040" cy="320040"/>
          </a:xfrm>
          <a:prstGeom prst="rect">
            <a:avLst/>
          </a:prstGeom>
          <a:noFill/>
          <a:ln/>
        </p:spPr>
        <p:txBody>
          <a:bodyPr wrap="square" lIns="0" tIns="0" rIns="0" bIns="0" rtlCol="0" anchor="t"/>
          <a:lstStyle/>
          <a:p>
            <a:pPr indent="0" marL="0">
              <a:buNone/>
            </a:pPr>
            <a:r>
              <a:rPr lang="en-US" sz="1500" b="1" dirty="0">
                <a:solidFill>
                  <a:schemeClr val="tx1"/>
                </a:solidFill>
              </a:rPr>
              <a:t>[Competitor 3]</a:t>
            </a:r>
            <a:endParaRPr lang="en-US" sz="1500" dirty="0"/>
          </a:p>
        </p:txBody>
      </p:sp>
      <p:sp>
        <p:nvSpPr>
          <p:cNvPr id="13" name="Competitor 3 screenshot"/>
          <p:cNvSpPr/>
          <p:nvPr/>
        </p:nvSpPr>
        <p:spPr>
          <a:xfrm>
            <a:off x="6080760" y="1645920"/>
            <a:ext cx="2606040" cy="1371600"/>
          </a:xfrm>
          <a:prstGeom prst="roundRect">
            <a:avLst>
              <a:gd name="adj" fmla="val 4000"/>
            </a:avLst>
          </a:prstGeom>
          <a:solidFill>
            <a:schemeClr val="bg1"/>
          </a:solidFill>
          <a:ln w="12700">
            <a:solidFill>
              <a:schemeClr val="accent5"/>
            </a:solidFill>
            <a:prstDash val="dash"/>
          </a:ln>
        </p:spPr>
      </p:sp>
      <p:sp>
        <p:nvSpPr>
          <p:cNvPr id="14" name="Competitor 3 screenshot label"/>
          <p:cNvSpPr txBox="1"/>
          <p:nvPr/>
        </p:nvSpPr>
        <p:spPr>
          <a:xfrm>
            <a:off x="6080760" y="1645920"/>
            <a:ext cx="2606040" cy="1371600"/>
          </a:xfrm>
          <a:prstGeom prst="rect">
            <a:avLst/>
          </a:prstGeom>
          <a:noFill/>
          <a:ln/>
        </p:spPr>
        <p:txBody>
          <a:bodyPr wrap="square" rtlCol="0" anchor="ctr"/>
          <a:lstStyle/>
          <a:p>
            <a:pPr algn="ctr" indent="0" marL="0">
              <a:buNone/>
            </a:pPr>
            <a:r>
              <a:rPr lang="en-US" sz="1000" i="1" dirty="0">
                <a:solidFill>
                  <a:schemeClr val="accent5"/>
                </a:solidFill>
              </a:rPr>
              <a:t>[Their best ad]</a:t>
            </a:r>
            <a:endParaRPr lang="en-US" sz="1000" dirty="0"/>
          </a:p>
        </p:txBody>
      </p:sp>
      <p:sp>
        <p:nvSpPr>
          <p:cNvPr id="15" name="Competitor 3 notes"/>
          <p:cNvSpPr txBox="1"/>
          <p:nvPr/>
        </p:nvSpPr>
        <p:spPr>
          <a:xfrm>
            <a:off x="6080760" y="3108960"/>
            <a:ext cx="2606040" cy="1554480"/>
          </a:xfrm>
          <a:prstGeom prst="rect">
            <a:avLst/>
          </a:prstGeom>
          <a:noFill/>
          <a:ln/>
        </p:spPr>
        <p:txBody>
          <a:bodyPr wrap="square" lIns="0" tIns="0" rIns="0" bIns="0" rtlCol="0" anchor="t"/>
          <a:lstStyle/>
          <a:p>
            <a:pPr indent="0" marL="0">
              <a:spcAft>
                <a:spcPts val="400"/>
              </a:spcAft>
              <a:buNone/>
            </a:pPr>
            <a:r>
              <a:rPr lang="en-US" sz="1100" b="1" dirty="0">
                <a:solidFill>
                  <a:schemeClr val="tx1"/>
                </a:solidFill>
              </a:rPr>
              <a:t>Formats &amp; strategy: </a:t>
            </a:r>
            <a:pPr indent="0" marL="0">
              <a:spcAft>
                <a:spcPts val="400"/>
              </a:spcAft>
              <a:buNone/>
            </a:pPr>
            <a:r>
              <a:rPr lang="en-US" sz="1100" dirty="0">
                <a:solidFill>
                  <a:schemeClr val="tx2"/>
                </a:solidFill>
              </a:rPr>
              <a:t>[...]</a:t>
            </a:r>
            <a:endParaRPr lang="en-US" sz="1100" dirty="0"/>
          </a:p>
          <a:p>
            <a:pPr indent="0" marL="0">
              <a:spcAft>
                <a:spcPts val="400"/>
              </a:spcAft>
              <a:buNone/>
            </a:pPr>
            <a:r>
              <a:rPr lang="en-US" sz="1100" b="1" dirty="0">
                <a:solidFill>
                  <a:schemeClr val="tx1"/>
                </a:solidFill>
              </a:rPr>
              <a:t>Creators/talent: </a:t>
            </a:r>
            <a:pPr indent="0" marL="0">
              <a:spcAft>
                <a:spcPts val="400"/>
              </a:spcAft>
              <a:buNone/>
            </a:pPr>
            <a:r>
              <a:rPr lang="en-US" sz="1100" dirty="0">
                <a:solidFill>
                  <a:schemeClr val="tx2"/>
                </a:solidFill>
              </a:rPr>
              <a:t>[...]</a:t>
            </a:r>
            <a:endParaRPr lang="en-US" sz="1100" dirty="0"/>
          </a:p>
          <a:p>
            <a:pPr indent="0" marL="0">
              <a:spcAft>
                <a:spcPts val="400"/>
              </a:spcAft>
              <a:buNone/>
            </a:pPr>
            <a:r>
              <a:rPr lang="en-US" sz="1100" b="1" dirty="0">
                <a:solidFill>
                  <a:schemeClr val="accent1"/>
                </a:solidFill>
              </a:rPr>
              <a:t>Lesson for [Brand]: </a:t>
            </a:r>
            <a:pPr indent="0" marL="0">
              <a:spcAft>
                <a:spcPts val="400"/>
              </a:spcAft>
              <a:buNone/>
            </a:pPr>
            <a:r>
              <a:rPr lang="en-US" sz="1100" dirty="0">
                <a:solidFill>
                  <a:schemeClr val="tx2"/>
                </a:solidFill>
              </a:rPr>
              <a:t>[...]</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74320"/>
          </a:xfrm>
          <a:prstGeom prst="rect">
            <a:avLst/>
          </a:prstGeom>
          <a:noFill/>
          <a:ln/>
        </p:spPr>
        <p:txBody>
          <a:bodyPr wrap="square" lIns="0" tIns="0" rIns="0" bIns="0" rtlCol="0"/>
          <a:lstStyle/>
          <a:p>
            <a:pPr indent="0" marL="0">
              <a:buNone/>
            </a:pPr>
            <a:r>
              <a:rPr lang="en-US" sz="1100" b="1" spc="200" kern="0" dirty="0">
                <a:solidFill>
                  <a:schemeClr val="accent1"/>
                </a:solidFill>
              </a:rPr>
              <a:t>LEARNINGS</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What's working across the market</a:t>
            </a:r>
            <a:endParaRPr lang="en-US" sz="2600" dirty="0"/>
          </a:p>
        </p:txBody>
      </p:sp>
      <p:graphicFrame>
        <p:nvGraphicFramePr>
          <p:cNvPr id="10" name="Learnings 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377440"/>
                <a:gridCol w="5852160"/>
              </a:tblGrid>
              <a:tr h="658368">
                <a:tc>
                  <a:txBody>
                    <a:bodyPr/>
                    <a:lstStyle/>
                    <a:p>
                      <a:pPr indent="0" marL="0">
                        <a:buNone/>
                      </a:pPr>
                      <a:r>
                        <a:rPr lang="en-US" sz="1200" b="1" dirty="0">
                          <a:solidFill>
                            <a:srgbClr val="16192B"/>
                          </a:solidFill>
                        </a:rPr>
                        <a:t>Top formats</a:t>
                      </a:r>
                      <a:endParaRPr lang="en-US" sz="12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c>
                  <a:txBody>
                    <a:bodyPr/>
                    <a:lstStyle/>
                    <a:p>
                      <a:pPr indent="0" marL="0">
                        <a:buNone/>
                      </a:pPr>
                      <a:r>
                        <a:rPr lang="en-US" sz="1200" dirty="0">
                          <a:solidFill>
                            <a:srgbClr val="4A4F68"/>
                          </a:solidFill>
                        </a:rPr>
                        <a:t>[...]</a:t>
                      </a:r>
                      <a:endParaRPr lang="en-US" sz="12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6192B"/>
                          </a:solidFill>
                        </a:rPr>
                        <a:t>Top messaging</a:t>
                      </a:r>
                      <a:endParaRPr lang="en-US" sz="12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c>
                  <a:txBody>
                    <a:bodyPr/>
                    <a:lstStyle/>
                    <a:p>
                      <a:pPr indent="0" marL="0">
                        <a:buNone/>
                      </a:pPr>
                      <a:r>
                        <a:rPr lang="en-US" sz="1200" dirty="0">
                          <a:solidFill>
                            <a:srgbClr val="4A4F68"/>
                          </a:solidFill>
                        </a:rPr>
                        <a:t>[...]</a:t>
                      </a:r>
                      <a:endParaRPr lang="en-US" sz="12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6192B"/>
                          </a:solidFill>
                        </a:rPr>
                        <a:t>Top visuals</a:t>
                      </a:r>
                      <a:endParaRPr lang="en-US" sz="12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c>
                  <a:txBody>
                    <a:bodyPr/>
                    <a:lstStyle/>
                    <a:p>
                      <a:pPr indent="0" marL="0">
                        <a:buNone/>
                      </a:pPr>
                      <a:r>
                        <a:rPr lang="en-US" sz="1200" dirty="0">
                          <a:solidFill>
                            <a:srgbClr val="4A4F68"/>
                          </a:solidFill>
                        </a:rPr>
                        <a:t>[...]</a:t>
                      </a:r>
                      <a:endParaRPr lang="en-US" sz="12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FF5A3C"/>
                          </a:solidFill>
                        </a:rPr>
                        <a:t>Opportunities: formats</a:t>
                      </a:r>
                      <a:endParaRPr lang="en-US" sz="12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c>
                  <a:txBody>
                    <a:bodyPr/>
                    <a:lstStyle/>
                    <a:p>
                      <a:pPr indent="0" marL="0">
                        <a:buNone/>
                      </a:pPr>
                      <a:r>
                        <a:rPr lang="en-US" sz="1200" dirty="0">
                          <a:solidFill>
                            <a:srgbClr val="4A4F68"/>
                          </a:solidFill>
                        </a:rPr>
                        <a:t>[...]</a:t>
                      </a:r>
                      <a:endParaRPr lang="en-US" sz="12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FF5A3C"/>
                          </a:solidFill>
                        </a:rPr>
                        <a:t>Opportunities: messaging</a:t>
                      </a:r>
                      <a:endParaRPr lang="en-US" sz="12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c>
                  <a:txBody>
                    <a:bodyPr/>
                    <a:lstStyle/>
                    <a:p>
                      <a:pPr indent="0" marL="0">
                        <a:buNone/>
                      </a:pPr>
                      <a:r>
                        <a:rPr lang="en-US" sz="1200" dirty="0">
                          <a:solidFill>
                            <a:srgbClr val="4A4F68"/>
                          </a:solidFill>
                        </a:rPr>
                        <a:t>[...]</a:t>
                      </a:r>
                      <a:endParaRPr lang="en-US" sz="12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74320"/>
          </a:xfrm>
          <a:prstGeom prst="rect">
            <a:avLst/>
          </a:prstGeom>
          <a:noFill/>
          <a:ln/>
        </p:spPr>
        <p:txBody>
          <a:bodyPr wrap="square" lIns="0" tIns="0" rIns="0" bIns="0" rtlCol="0"/>
          <a:lstStyle/>
          <a:p>
            <a:pPr indent="0" marL="0">
              <a:buNone/>
            </a:pPr>
            <a:r>
              <a:rPr lang="en-US" sz="1100" b="1" spc="200" kern="0" dirty="0">
                <a:solidFill>
                  <a:schemeClr val="accent1"/>
                </a:solidFill>
              </a:rPr>
              <a:t>WHAT I'D TEST NEXT</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3 concepts to test</a:t>
            </a:r>
            <a:endParaRPr lang="en-US" sz="2600" dirty="0"/>
          </a:p>
        </p:txBody>
      </p:sp>
      <p:sp>
        <p:nvSpPr>
          <p:cNvPr id="4" name="Concept 1 card"/>
          <p:cNvSpPr/>
          <p:nvPr/>
        </p:nvSpPr>
        <p:spPr>
          <a:xfrm>
            <a:off x="457200" y="1280160"/>
            <a:ext cx="2606040" cy="3383280"/>
          </a:xfrm>
          <a:prstGeom prst="roundRect">
            <a:avLst>
              <a:gd name="adj" fmla="val 2807"/>
            </a:avLst>
          </a:prstGeom>
          <a:solidFill>
            <a:schemeClr val="bg2"/>
          </a:solidFill>
          <a:ln w="12700">
            <a:solidFill>
              <a:schemeClr val="bg2"/>
            </a:solidFill>
            <a:prstDash val="solid"/>
          </a:ln>
        </p:spPr>
      </p:sp>
      <p:sp>
        <p:nvSpPr>
          <p:cNvPr id="5" name="Concept 1 dot"/>
          <p:cNvSpPr/>
          <p:nvPr/>
        </p:nvSpPr>
        <p:spPr>
          <a:xfrm>
            <a:off x="685800" y="1463040"/>
            <a:ext cx="384048" cy="384048"/>
          </a:xfrm>
          <a:prstGeom prst="ellipse">
            <a:avLst/>
          </a:prstGeom>
          <a:solidFill>
            <a:schemeClr val="accent1"/>
          </a:solidFill>
          <a:ln w="12700">
            <a:solidFill>
              <a:schemeClr val="accent1"/>
            </a:solidFill>
            <a:prstDash val="solid"/>
          </a:ln>
        </p:spPr>
      </p:sp>
      <p:sp>
        <p:nvSpPr>
          <p:cNvPr id="6" name="Concept 1 dot number"/>
          <p:cNvSpPr txBox="1"/>
          <p:nvPr/>
        </p:nvSpPr>
        <p:spPr>
          <a:xfrm>
            <a:off x="685800"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oncept 1 name"/>
          <p:cNvSpPr txBox="1"/>
          <p:nvPr/>
        </p:nvSpPr>
        <p:spPr>
          <a:xfrm>
            <a:off x="1188720" y="1463040"/>
            <a:ext cx="1691640" cy="384048"/>
          </a:xfrm>
          <a:prstGeom prst="rect">
            <a:avLst/>
          </a:prstGeom>
          <a:noFill/>
          <a:ln/>
        </p:spPr>
        <p:txBody>
          <a:bodyPr wrap="square" lIns="0" tIns="0" rIns="0" bIns="0" rtlCol="0" anchor="ctr"/>
          <a:lstStyle/>
          <a:p>
            <a:pPr indent="0" marL="0">
              <a:buNone/>
            </a:pPr>
            <a:r>
              <a:rPr lang="en-US" sz="1500" b="1" dirty="0">
                <a:solidFill>
                  <a:schemeClr val="tx1"/>
                </a:solidFill>
              </a:rPr>
              <a:t>[Concept name]</a:t>
            </a:r>
            <a:endParaRPr lang="en-US" sz="1500" dirty="0"/>
          </a:p>
        </p:txBody>
      </p:sp>
      <p:sp>
        <p:nvSpPr>
          <p:cNvPr id="8" name="Concept 1 details"/>
          <p:cNvSpPr txBox="1"/>
          <p:nvPr/>
        </p:nvSpPr>
        <p:spPr>
          <a:xfrm>
            <a:off x="685800" y="2011680"/>
            <a:ext cx="2148840" cy="2514600"/>
          </a:xfrm>
          <a:prstGeom prst="rect">
            <a:avLst/>
          </a:prstGeom>
          <a:noFill/>
          <a:ln/>
        </p:spPr>
        <p:txBody>
          <a:bodyPr wrap="square" lIns="0" tIns="0" rIns="0" bIns="0" rtlCol="0" anchor="t"/>
          <a:lstStyle/>
          <a:p>
            <a:pPr indent="0" marL="0">
              <a:spcAft>
                <a:spcPts val="400"/>
              </a:spcAft>
              <a:buNone/>
            </a:pPr>
            <a:r>
              <a:rPr lang="en-US" sz="1100" b="1" dirty="0">
                <a:solidFill>
                  <a:schemeClr val="tx1"/>
                </a:solidFill>
              </a:rPr>
              <a:t>Angle: </a:t>
            </a:r>
            <a:pPr indent="0" marL="0">
              <a:spcAft>
                <a:spcPts val="400"/>
              </a:spcAft>
              <a:buNone/>
            </a:pPr>
            <a:r>
              <a:rPr lang="en-US" sz="1100" dirty="0">
                <a:solidFill>
                  <a:schemeClr val="tx2"/>
                </a:solidFill>
              </a:rPr>
              <a:t>[...]</a:t>
            </a:r>
            <a:endParaRPr lang="en-US" sz="1100" dirty="0"/>
          </a:p>
          <a:p>
            <a:pPr indent="0" marL="0">
              <a:spcAft>
                <a:spcPts val="400"/>
              </a:spcAft>
              <a:buNone/>
            </a:pPr>
            <a:r>
              <a:rPr lang="en-US" sz="1100" b="1" dirty="0">
                <a:solidFill>
                  <a:schemeClr val="tx1"/>
                </a:solidFill>
              </a:rPr>
              <a:t>Persona: </a:t>
            </a:r>
            <a:pPr indent="0" marL="0">
              <a:spcAft>
                <a:spcPts val="400"/>
              </a:spcAft>
              <a:buNone/>
            </a:pPr>
            <a:r>
              <a:rPr lang="en-US" sz="1100" dirty="0">
                <a:solidFill>
                  <a:schemeClr val="tx2"/>
                </a:solidFill>
              </a:rPr>
              <a:t>[...]</a:t>
            </a:r>
            <a:endParaRPr lang="en-US" sz="1100" dirty="0"/>
          </a:p>
          <a:p>
            <a:pPr indent="0" marL="0">
              <a:spcAft>
                <a:spcPts val="400"/>
              </a:spcAft>
              <a:buNone/>
            </a:pPr>
            <a:r>
              <a:rPr lang="en-US" sz="1100" b="1" dirty="0">
                <a:solidFill>
                  <a:schemeClr val="tx1"/>
                </a:solidFill>
              </a:rPr>
              <a:t>Format: </a:t>
            </a:r>
            <a:pPr indent="0" marL="0">
              <a:spcAft>
                <a:spcPts val="400"/>
              </a:spcAft>
              <a:buNone/>
            </a:pPr>
            <a:r>
              <a:rPr lang="en-US" sz="1100" dirty="0">
                <a:solidFill>
                  <a:schemeClr val="tx2"/>
                </a:solidFill>
              </a:rPr>
              <a:t>[...]</a:t>
            </a:r>
            <a:endParaRPr lang="en-US" sz="1100" dirty="0"/>
          </a:p>
          <a:p>
            <a:pPr indent="0" marL="0">
              <a:spcAft>
                <a:spcPts val="400"/>
              </a:spcAft>
              <a:buNone/>
            </a:pPr>
            <a:r>
              <a:rPr lang="en-US" sz="1100" b="1" dirty="0">
                <a:solidFill>
                  <a:schemeClr val="tx1"/>
                </a:solidFill>
              </a:rPr>
              <a:t>Hooks:</a:t>
            </a:r>
            <a:endParaRPr lang="en-US" sz="1100" dirty="0"/>
          </a:p>
          <a:p>
            <a:pPr indent="0" marL="0">
              <a:spcAft>
                <a:spcPts val="400"/>
              </a:spcAft>
              <a:buNone/>
            </a:pPr>
            <a:r>
              <a:rPr lang="en-US" sz="1100" dirty="0">
                <a:solidFill>
                  <a:schemeClr val="tx2"/>
                </a:solidFill>
              </a:rPr>
              <a:t>1. [...]</a:t>
            </a:r>
            <a:endParaRPr lang="en-US" sz="1100" dirty="0"/>
          </a:p>
          <a:p>
            <a:pPr indent="0" marL="0">
              <a:spcAft>
                <a:spcPts val="400"/>
              </a:spcAft>
              <a:buNone/>
            </a:pPr>
            <a:r>
              <a:rPr lang="en-US" sz="1100" dirty="0">
                <a:solidFill>
                  <a:schemeClr val="tx2"/>
                </a:solidFill>
              </a:rPr>
              <a:t>2. [...]</a:t>
            </a:r>
            <a:endParaRPr lang="en-US" sz="1100" dirty="0"/>
          </a:p>
          <a:p>
            <a:pPr indent="0" marL="0">
              <a:spcAft>
                <a:spcPts val="400"/>
              </a:spcAft>
              <a:buNone/>
            </a:pPr>
            <a:r>
              <a:rPr lang="en-US" sz="1100" dirty="0">
                <a:solidFill>
                  <a:schemeClr val="tx2"/>
                </a:solidFill>
              </a:rPr>
              <a:t>3. [...]</a:t>
            </a:r>
            <a:endParaRPr lang="en-US" sz="1100" dirty="0"/>
          </a:p>
        </p:txBody>
      </p:sp>
      <p:sp>
        <p:nvSpPr>
          <p:cNvPr id="9" name="Concept 2 card"/>
          <p:cNvSpPr/>
          <p:nvPr/>
        </p:nvSpPr>
        <p:spPr>
          <a:xfrm>
            <a:off x="3268980" y="1280160"/>
            <a:ext cx="2606040" cy="3383280"/>
          </a:xfrm>
          <a:prstGeom prst="roundRect">
            <a:avLst>
              <a:gd name="adj" fmla="val 2807"/>
            </a:avLst>
          </a:prstGeom>
          <a:solidFill>
            <a:schemeClr val="bg2"/>
          </a:solidFill>
          <a:ln w="12700">
            <a:solidFill>
              <a:schemeClr val="bg2"/>
            </a:solidFill>
            <a:prstDash val="solid"/>
          </a:ln>
        </p:spPr>
      </p:sp>
      <p:sp>
        <p:nvSpPr>
          <p:cNvPr id="10" name="Concept 2 dot"/>
          <p:cNvSpPr/>
          <p:nvPr/>
        </p:nvSpPr>
        <p:spPr>
          <a:xfrm>
            <a:off x="3497580" y="1463040"/>
            <a:ext cx="384048" cy="384048"/>
          </a:xfrm>
          <a:prstGeom prst="ellipse">
            <a:avLst/>
          </a:prstGeom>
          <a:solidFill>
            <a:schemeClr val="accent1"/>
          </a:solidFill>
          <a:ln w="12700">
            <a:solidFill>
              <a:schemeClr val="accent1"/>
            </a:solidFill>
            <a:prstDash val="solid"/>
          </a:ln>
        </p:spPr>
      </p:sp>
      <p:sp>
        <p:nvSpPr>
          <p:cNvPr id="11" name="Concept 2 dot number"/>
          <p:cNvSpPr txBox="1"/>
          <p:nvPr/>
        </p:nvSpPr>
        <p:spPr>
          <a:xfrm>
            <a:off x="3497580"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Concept 2 name"/>
          <p:cNvSpPr txBox="1"/>
          <p:nvPr/>
        </p:nvSpPr>
        <p:spPr>
          <a:xfrm>
            <a:off x="4000500" y="1463040"/>
            <a:ext cx="1691640" cy="384048"/>
          </a:xfrm>
          <a:prstGeom prst="rect">
            <a:avLst/>
          </a:prstGeom>
          <a:noFill/>
          <a:ln/>
        </p:spPr>
        <p:txBody>
          <a:bodyPr wrap="square" lIns="0" tIns="0" rIns="0" bIns="0" rtlCol="0" anchor="ctr"/>
          <a:lstStyle/>
          <a:p>
            <a:pPr indent="0" marL="0">
              <a:buNone/>
            </a:pPr>
            <a:r>
              <a:rPr lang="en-US" sz="1500" b="1" dirty="0">
                <a:solidFill>
                  <a:schemeClr val="tx1"/>
                </a:solidFill>
              </a:rPr>
              <a:t>[Concept name]</a:t>
            </a:r>
            <a:endParaRPr lang="en-US" sz="1500" dirty="0"/>
          </a:p>
        </p:txBody>
      </p:sp>
      <p:sp>
        <p:nvSpPr>
          <p:cNvPr id="13" name="Concept 2 details"/>
          <p:cNvSpPr txBox="1"/>
          <p:nvPr/>
        </p:nvSpPr>
        <p:spPr>
          <a:xfrm>
            <a:off x="3497580" y="2011680"/>
            <a:ext cx="2148840" cy="2514600"/>
          </a:xfrm>
          <a:prstGeom prst="rect">
            <a:avLst/>
          </a:prstGeom>
          <a:noFill/>
          <a:ln/>
        </p:spPr>
        <p:txBody>
          <a:bodyPr wrap="square" lIns="0" tIns="0" rIns="0" bIns="0" rtlCol="0" anchor="t"/>
          <a:lstStyle/>
          <a:p>
            <a:pPr indent="0" marL="0">
              <a:spcAft>
                <a:spcPts val="400"/>
              </a:spcAft>
              <a:buNone/>
            </a:pPr>
            <a:r>
              <a:rPr lang="en-US" sz="1100" b="1" dirty="0">
                <a:solidFill>
                  <a:schemeClr val="tx1"/>
                </a:solidFill>
              </a:rPr>
              <a:t>Angle: </a:t>
            </a:r>
            <a:pPr indent="0" marL="0">
              <a:spcAft>
                <a:spcPts val="400"/>
              </a:spcAft>
              <a:buNone/>
            </a:pPr>
            <a:r>
              <a:rPr lang="en-US" sz="1100" dirty="0">
                <a:solidFill>
                  <a:schemeClr val="tx2"/>
                </a:solidFill>
              </a:rPr>
              <a:t>[...]</a:t>
            </a:r>
            <a:endParaRPr lang="en-US" sz="1100" dirty="0"/>
          </a:p>
          <a:p>
            <a:pPr indent="0" marL="0">
              <a:spcAft>
                <a:spcPts val="400"/>
              </a:spcAft>
              <a:buNone/>
            </a:pPr>
            <a:r>
              <a:rPr lang="en-US" sz="1100" b="1" dirty="0">
                <a:solidFill>
                  <a:schemeClr val="tx1"/>
                </a:solidFill>
              </a:rPr>
              <a:t>Persona: </a:t>
            </a:r>
            <a:pPr indent="0" marL="0">
              <a:spcAft>
                <a:spcPts val="400"/>
              </a:spcAft>
              <a:buNone/>
            </a:pPr>
            <a:r>
              <a:rPr lang="en-US" sz="1100" dirty="0">
                <a:solidFill>
                  <a:schemeClr val="tx2"/>
                </a:solidFill>
              </a:rPr>
              <a:t>[...]</a:t>
            </a:r>
            <a:endParaRPr lang="en-US" sz="1100" dirty="0"/>
          </a:p>
          <a:p>
            <a:pPr indent="0" marL="0">
              <a:spcAft>
                <a:spcPts val="400"/>
              </a:spcAft>
              <a:buNone/>
            </a:pPr>
            <a:r>
              <a:rPr lang="en-US" sz="1100" b="1" dirty="0">
                <a:solidFill>
                  <a:schemeClr val="tx1"/>
                </a:solidFill>
              </a:rPr>
              <a:t>Format: </a:t>
            </a:r>
            <a:pPr indent="0" marL="0">
              <a:spcAft>
                <a:spcPts val="400"/>
              </a:spcAft>
              <a:buNone/>
            </a:pPr>
            <a:r>
              <a:rPr lang="en-US" sz="1100" dirty="0">
                <a:solidFill>
                  <a:schemeClr val="tx2"/>
                </a:solidFill>
              </a:rPr>
              <a:t>[...]</a:t>
            </a:r>
            <a:endParaRPr lang="en-US" sz="1100" dirty="0"/>
          </a:p>
          <a:p>
            <a:pPr indent="0" marL="0">
              <a:spcAft>
                <a:spcPts val="400"/>
              </a:spcAft>
              <a:buNone/>
            </a:pPr>
            <a:r>
              <a:rPr lang="en-US" sz="1100" b="1" dirty="0">
                <a:solidFill>
                  <a:schemeClr val="tx1"/>
                </a:solidFill>
              </a:rPr>
              <a:t>Hooks:</a:t>
            </a:r>
            <a:endParaRPr lang="en-US" sz="1100" dirty="0"/>
          </a:p>
          <a:p>
            <a:pPr indent="0" marL="0">
              <a:spcAft>
                <a:spcPts val="400"/>
              </a:spcAft>
              <a:buNone/>
            </a:pPr>
            <a:r>
              <a:rPr lang="en-US" sz="1100" dirty="0">
                <a:solidFill>
                  <a:schemeClr val="tx2"/>
                </a:solidFill>
              </a:rPr>
              <a:t>1. [...]</a:t>
            </a:r>
            <a:endParaRPr lang="en-US" sz="1100" dirty="0"/>
          </a:p>
          <a:p>
            <a:pPr indent="0" marL="0">
              <a:spcAft>
                <a:spcPts val="400"/>
              </a:spcAft>
              <a:buNone/>
            </a:pPr>
            <a:r>
              <a:rPr lang="en-US" sz="1100" dirty="0">
                <a:solidFill>
                  <a:schemeClr val="tx2"/>
                </a:solidFill>
              </a:rPr>
              <a:t>2. [...]</a:t>
            </a:r>
            <a:endParaRPr lang="en-US" sz="1100" dirty="0"/>
          </a:p>
          <a:p>
            <a:pPr indent="0" marL="0">
              <a:spcAft>
                <a:spcPts val="400"/>
              </a:spcAft>
              <a:buNone/>
            </a:pPr>
            <a:r>
              <a:rPr lang="en-US" sz="1100" dirty="0">
                <a:solidFill>
                  <a:schemeClr val="tx2"/>
                </a:solidFill>
              </a:rPr>
              <a:t>3. [...]</a:t>
            </a:r>
            <a:endParaRPr lang="en-US" sz="1100" dirty="0"/>
          </a:p>
        </p:txBody>
      </p:sp>
      <p:sp>
        <p:nvSpPr>
          <p:cNvPr id="14" name="Concept 3 card"/>
          <p:cNvSpPr/>
          <p:nvPr/>
        </p:nvSpPr>
        <p:spPr>
          <a:xfrm>
            <a:off x="6080760" y="1280160"/>
            <a:ext cx="2606040" cy="3383280"/>
          </a:xfrm>
          <a:prstGeom prst="roundRect">
            <a:avLst>
              <a:gd name="adj" fmla="val 2807"/>
            </a:avLst>
          </a:prstGeom>
          <a:solidFill>
            <a:schemeClr val="bg2"/>
          </a:solidFill>
          <a:ln w="12700">
            <a:solidFill>
              <a:schemeClr val="bg2"/>
            </a:solidFill>
            <a:prstDash val="solid"/>
          </a:ln>
        </p:spPr>
      </p:sp>
      <p:sp>
        <p:nvSpPr>
          <p:cNvPr id="15" name="Concept 3 dot"/>
          <p:cNvSpPr/>
          <p:nvPr/>
        </p:nvSpPr>
        <p:spPr>
          <a:xfrm>
            <a:off x="6309360" y="1463040"/>
            <a:ext cx="384048" cy="384048"/>
          </a:xfrm>
          <a:prstGeom prst="ellipse">
            <a:avLst/>
          </a:prstGeom>
          <a:solidFill>
            <a:schemeClr val="accent1"/>
          </a:solidFill>
          <a:ln w="12700">
            <a:solidFill>
              <a:schemeClr val="accent1"/>
            </a:solidFill>
            <a:prstDash val="solid"/>
          </a:ln>
        </p:spPr>
      </p:sp>
      <p:sp>
        <p:nvSpPr>
          <p:cNvPr id="16" name="Concept 3 dot number"/>
          <p:cNvSpPr txBox="1"/>
          <p:nvPr/>
        </p:nvSpPr>
        <p:spPr>
          <a:xfrm>
            <a:off x="6309360"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Concept 3 name"/>
          <p:cNvSpPr txBox="1"/>
          <p:nvPr/>
        </p:nvSpPr>
        <p:spPr>
          <a:xfrm>
            <a:off x="6812280" y="1463040"/>
            <a:ext cx="1691640" cy="384048"/>
          </a:xfrm>
          <a:prstGeom prst="rect">
            <a:avLst/>
          </a:prstGeom>
          <a:noFill/>
          <a:ln/>
        </p:spPr>
        <p:txBody>
          <a:bodyPr wrap="square" lIns="0" tIns="0" rIns="0" bIns="0" rtlCol="0" anchor="ctr"/>
          <a:lstStyle/>
          <a:p>
            <a:pPr indent="0" marL="0">
              <a:buNone/>
            </a:pPr>
            <a:r>
              <a:rPr lang="en-US" sz="1500" b="1" dirty="0">
                <a:solidFill>
                  <a:schemeClr val="tx1"/>
                </a:solidFill>
              </a:rPr>
              <a:t>[Concept name]</a:t>
            </a:r>
            <a:endParaRPr lang="en-US" sz="1500" dirty="0"/>
          </a:p>
        </p:txBody>
      </p:sp>
      <p:sp>
        <p:nvSpPr>
          <p:cNvPr id="18" name="Concept 3 details"/>
          <p:cNvSpPr txBox="1"/>
          <p:nvPr/>
        </p:nvSpPr>
        <p:spPr>
          <a:xfrm>
            <a:off x="6309360" y="2011680"/>
            <a:ext cx="2148840" cy="2514600"/>
          </a:xfrm>
          <a:prstGeom prst="rect">
            <a:avLst/>
          </a:prstGeom>
          <a:noFill/>
          <a:ln/>
        </p:spPr>
        <p:txBody>
          <a:bodyPr wrap="square" lIns="0" tIns="0" rIns="0" bIns="0" rtlCol="0" anchor="t"/>
          <a:lstStyle/>
          <a:p>
            <a:pPr indent="0" marL="0">
              <a:spcAft>
                <a:spcPts val="400"/>
              </a:spcAft>
              <a:buNone/>
            </a:pPr>
            <a:r>
              <a:rPr lang="en-US" sz="1100" b="1" dirty="0">
                <a:solidFill>
                  <a:schemeClr val="tx1"/>
                </a:solidFill>
              </a:rPr>
              <a:t>Angle: </a:t>
            </a:r>
            <a:pPr indent="0" marL="0">
              <a:spcAft>
                <a:spcPts val="400"/>
              </a:spcAft>
              <a:buNone/>
            </a:pPr>
            <a:r>
              <a:rPr lang="en-US" sz="1100" dirty="0">
                <a:solidFill>
                  <a:schemeClr val="tx2"/>
                </a:solidFill>
              </a:rPr>
              <a:t>[...]</a:t>
            </a:r>
            <a:endParaRPr lang="en-US" sz="1100" dirty="0"/>
          </a:p>
          <a:p>
            <a:pPr indent="0" marL="0">
              <a:spcAft>
                <a:spcPts val="400"/>
              </a:spcAft>
              <a:buNone/>
            </a:pPr>
            <a:r>
              <a:rPr lang="en-US" sz="1100" b="1" dirty="0">
                <a:solidFill>
                  <a:schemeClr val="tx1"/>
                </a:solidFill>
              </a:rPr>
              <a:t>Persona: </a:t>
            </a:r>
            <a:pPr indent="0" marL="0">
              <a:spcAft>
                <a:spcPts val="400"/>
              </a:spcAft>
              <a:buNone/>
            </a:pPr>
            <a:r>
              <a:rPr lang="en-US" sz="1100" dirty="0">
                <a:solidFill>
                  <a:schemeClr val="tx2"/>
                </a:solidFill>
              </a:rPr>
              <a:t>[...]</a:t>
            </a:r>
            <a:endParaRPr lang="en-US" sz="1100" dirty="0"/>
          </a:p>
          <a:p>
            <a:pPr indent="0" marL="0">
              <a:spcAft>
                <a:spcPts val="400"/>
              </a:spcAft>
              <a:buNone/>
            </a:pPr>
            <a:r>
              <a:rPr lang="en-US" sz="1100" b="1" dirty="0">
                <a:solidFill>
                  <a:schemeClr val="tx1"/>
                </a:solidFill>
              </a:rPr>
              <a:t>Format: </a:t>
            </a:r>
            <a:pPr indent="0" marL="0">
              <a:spcAft>
                <a:spcPts val="400"/>
              </a:spcAft>
              <a:buNone/>
            </a:pPr>
            <a:r>
              <a:rPr lang="en-US" sz="1100" dirty="0">
                <a:solidFill>
                  <a:schemeClr val="tx2"/>
                </a:solidFill>
              </a:rPr>
              <a:t>[...]</a:t>
            </a:r>
            <a:endParaRPr lang="en-US" sz="1100" dirty="0"/>
          </a:p>
          <a:p>
            <a:pPr indent="0" marL="0">
              <a:spcAft>
                <a:spcPts val="400"/>
              </a:spcAft>
              <a:buNone/>
            </a:pPr>
            <a:r>
              <a:rPr lang="en-US" sz="1100" b="1" dirty="0">
                <a:solidFill>
                  <a:schemeClr val="tx1"/>
                </a:solidFill>
              </a:rPr>
              <a:t>Hooks:</a:t>
            </a:r>
            <a:endParaRPr lang="en-US" sz="1100" dirty="0"/>
          </a:p>
          <a:p>
            <a:pPr indent="0" marL="0">
              <a:spcAft>
                <a:spcPts val="400"/>
              </a:spcAft>
              <a:buNone/>
            </a:pPr>
            <a:r>
              <a:rPr lang="en-US" sz="1100" dirty="0">
                <a:solidFill>
                  <a:schemeClr val="tx2"/>
                </a:solidFill>
              </a:rPr>
              <a:t>1. [...]</a:t>
            </a:r>
            <a:endParaRPr lang="en-US" sz="1100" dirty="0"/>
          </a:p>
          <a:p>
            <a:pPr indent="0" marL="0">
              <a:spcAft>
                <a:spcPts val="400"/>
              </a:spcAft>
              <a:buNone/>
            </a:pPr>
            <a:r>
              <a:rPr lang="en-US" sz="1100" dirty="0">
                <a:solidFill>
                  <a:schemeClr val="tx2"/>
                </a:solidFill>
              </a:rPr>
              <a:t>2. [...]</a:t>
            </a:r>
            <a:endParaRPr lang="en-US" sz="1100" dirty="0"/>
          </a:p>
          <a:p>
            <a:pPr indent="0" marL="0">
              <a:spcAft>
                <a:spcPts val="400"/>
              </a:spcAft>
              <a:buNone/>
            </a:pPr>
            <a:r>
              <a:rPr lang="en-US" sz="1100" dirty="0">
                <a:solidFill>
                  <a:schemeClr val="tx2"/>
                </a:solidFill>
              </a:rPr>
              <a:t>3. [...]</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74320"/>
          </a:xfrm>
          <a:prstGeom prst="rect">
            <a:avLst/>
          </a:prstGeom>
          <a:noFill/>
          <a:ln/>
        </p:spPr>
        <p:txBody>
          <a:bodyPr wrap="square" lIns="0" tIns="0" rIns="0" bIns="0" rtlCol="0"/>
          <a:lstStyle/>
          <a:p>
            <a:pPr indent="0" marL="0">
              <a:buNone/>
            </a:pPr>
            <a:r>
              <a:rPr lang="en-US" sz="1100" b="1" spc="200" kern="0" dirty="0">
                <a:solidFill>
                  <a:schemeClr val="accent1"/>
                </a:solidFill>
              </a:rPr>
              <a:t>CONCEPT 1: FULL SCRIPT</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[Concept name]: ready to brief</a:t>
            </a:r>
            <a:endParaRPr lang="en-US" sz="2600" dirty="0"/>
          </a:p>
        </p:txBody>
      </p:sp>
      <p:graphicFrame>
        <p:nvGraphicFramePr>
          <p:cNvPr id="12" name="Script table"/>
          <p:cNvGraphicFramePr>
            <a:graphicFrameLocks noGrp="1"/>
          </p:cNvGraphicFramePr>
          <p:nvPr>
            <p:extLst>
              <p:ext uri="{D42A27DB-BD31-4B8C-83A1-F6EECF244321}">
                <p14:modId xmlns:p14="http://schemas.microsoft.com/office/powerpoint/2010/main" val="1579011935"/>
              </p:ext>
            </p:extLst>
          </p:nvPr>
        </p:nvGraphicFramePr>
        <p:xfrm>
          <a:off x="457200" y="1280160"/>
          <a:ext cx="5669280" cy="914400"/>
        </p:xfrm>
        <a:graphic>
          <a:graphicData uri="http://schemas.openxmlformats.org/drawingml/2006/table">
            <a:tbl>
              <a:tblPr/>
              <a:tblGrid>
                <a:gridCol w="822960"/>
                <a:gridCol w="2103120"/>
                <a:gridCol w="2743200"/>
              </a:tblGrid>
              <a:tr h="548640">
                <a:tc>
                  <a:txBody>
                    <a:bodyPr/>
                    <a:lstStyle/>
                    <a:p>
                      <a:pPr indent="0" marL="0">
                        <a:buNone/>
                      </a:pPr>
                      <a:r>
                        <a:rPr lang="en-US" sz="1100" b="1" dirty="0">
                          <a:solidFill>
                            <a:srgbClr val="FFFFFF"/>
                          </a:solidFill>
                        </a:rPr>
                        <a:t>Time</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16192B"/>
                    </a:solidFill>
                  </a:tcPr>
                </a:tc>
                <a:tc>
                  <a:txBody>
                    <a:bodyPr/>
                    <a:lstStyle/>
                    <a:p>
                      <a:pPr indent="0" marL="0">
                        <a:buNone/>
                      </a:pPr>
                      <a:r>
                        <a:rPr lang="en-US" sz="1100" b="1" dirty="0">
                          <a:solidFill>
                            <a:srgbClr val="FFFFFF"/>
                          </a:solidFill>
                        </a:rPr>
                        <a:t>Visual</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16192B"/>
                    </a:solidFill>
                  </a:tcPr>
                </a:tc>
                <a:tc>
                  <a:txBody>
                    <a:bodyPr/>
                    <a:lstStyle/>
                    <a:p>
                      <a:pPr indent="0" marL="0">
                        <a:buNone/>
                      </a:pPr>
                      <a:r>
                        <a:rPr lang="en-US" sz="1100" b="1" dirty="0">
                          <a:solidFill>
                            <a:srgbClr val="FFFFFF"/>
                          </a:solidFill>
                        </a:rPr>
                        <a:t>Voiceover / on-screen text</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16192B"/>
                    </a:solidFill>
                  </a:tcPr>
                </a:tc>
              </a:tr>
              <a:tr h="548640">
                <a:tc>
                  <a:txBody>
                    <a:bodyPr/>
                    <a:lstStyle/>
                    <a:p>
                      <a:pPr indent="0" marL="0">
                        <a:buNone/>
                      </a:pPr>
                      <a:r>
                        <a:rPr lang="en-US" sz="1100" dirty="0">
                          <a:solidFill>
                            <a:srgbClr val="4A4F68"/>
                          </a:solidFill>
                        </a:rPr>
                        <a:t>0–3s</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c>
                  <a:txBody>
                    <a:bodyPr/>
                    <a:lstStyle/>
                    <a:p>
                      <a:pPr indent="0" marL="0">
                        <a:buNone/>
                      </a:pPr>
                      <a:r>
                        <a:rPr lang="en-US" sz="1100" dirty="0">
                          <a:solidFill>
                            <a:srgbClr val="4A4F68"/>
                          </a:solidFill>
                        </a:rPr>
                        <a:t>[Hook visual]</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c>
                  <a:txBody>
                    <a:bodyPr/>
                    <a:lstStyle/>
                    <a:p>
                      <a:pPr indent="0" marL="0">
                        <a:buNone/>
                      </a:pPr>
                      <a:r>
                        <a:rPr lang="en-US" sz="1100" dirty="0">
                          <a:solidFill>
                            <a:srgbClr val="4A4F68"/>
                          </a:solidFill>
                        </a:rPr>
                        <a:t>[Hook line]</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r>
              <a:tr h="548640">
                <a:tc>
                  <a:txBody>
                    <a:bodyPr/>
                    <a:lstStyle/>
                    <a:p>
                      <a:pPr indent="0" marL="0">
                        <a:buNone/>
                      </a:pPr>
                      <a:r>
                        <a:rPr lang="en-US" sz="1100" dirty="0">
                          <a:solidFill>
                            <a:srgbClr val="4A4F68"/>
                          </a:solidFill>
                        </a:rPr>
                        <a:t>3–10s</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FFFFF"/>
                    </a:solidFill>
                  </a:tcPr>
                </a:tc>
                <a:tc>
                  <a:txBody>
                    <a:bodyPr/>
                    <a:lstStyle/>
                    <a:p>
                      <a:pPr indent="0" marL="0">
                        <a:buNone/>
                      </a:pPr>
                      <a:r>
                        <a:rPr lang="en-US" sz="1100" dirty="0">
                          <a:solidFill>
                            <a:srgbClr val="4A4F68"/>
                          </a:solidFill>
                        </a:rPr>
                        <a:t>[...]</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FFFFF"/>
                    </a:solidFill>
                  </a:tcPr>
                </a:tc>
                <a:tc>
                  <a:txBody>
                    <a:bodyPr/>
                    <a:lstStyle/>
                    <a:p>
                      <a:pPr indent="0" marL="0">
                        <a:buNone/>
                      </a:pPr>
                      <a:r>
                        <a:rPr lang="en-US" sz="1100" dirty="0">
                          <a:solidFill>
                            <a:srgbClr val="4A4F68"/>
                          </a:solidFill>
                        </a:rPr>
                        <a:t>[Problem / story]</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4A4F68"/>
                          </a:solidFill>
                        </a:rPr>
                        <a:t>10–20s</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c>
                  <a:txBody>
                    <a:bodyPr/>
                    <a:lstStyle/>
                    <a:p>
                      <a:pPr indent="0" marL="0">
                        <a:buNone/>
                      </a:pPr>
                      <a:r>
                        <a:rPr lang="en-US" sz="1100" dirty="0">
                          <a:solidFill>
                            <a:srgbClr val="4A4F68"/>
                          </a:solidFill>
                        </a:rPr>
                        <a:t>[...]</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c>
                  <a:txBody>
                    <a:bodyPr/>
                    <a:lstStyle/>
                    <a:p>
                      <a:pPr indent="0" marL="0">
                        <a:buNone/>
                      </a:pPr>
                      <a:r>
                        <a:rPr lang="en-US" sz="1100" dirty="0">
                          <a:solidFill>
                            <a:srgbClr val="4A4F68"/>
                          </a:solidFill>
                        </a:rPr>
                        <a:t>[Mechanism / why it's different]</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r>
              <a:tr h="548640">
                <a:tc>
                  <a:txBody>
                    <a:bodyPr/>
                    <a:lstStyle/>
                    <a:p>
                      <a:pPr indent="0" marL="0">
                        <a:buNone/>
                      </a:pPr>
                      <a:r>
                        <a:rPr lang="en-US" sz="1100" dirty="0">
                          <a:solidFill>
                            <a:srgbClr val="4A4F68"/>
                          </a:solidFill>
                        </a:rPr>
                        <a:t>20–30s</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FFFFF"/>
                    </a:solidFill>
                  </a:tcPr>
                </a:tc>
                <a:tc>
                  <a:txBody>
                    <a:bodyPr/>
                    <a:lstStyle/>
                    <a:p>
                      <a:pPr indent="0" marL="0">
                        <a:buNone/>
                      </a:pPr>
                      <a:r>
                        <a:rPr lang="en-US" sz="1100" dirty="0">
                          <a:solidFill>
                            <a:srgbClr val="4A4F68"/>
                          </a:solidFill>
                        </a:rPr>
                        <a:t>[...]</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FFFFF"/>
                    </a:solidFill>
                  </a:tcPr>
                </a:tc>
                <a:tc>
                  <a:txBody>
                    <a:bodyPr/>
                    <a:lstStyle/>
                    <a:p>
                      <a:pPr indent="0" marL="0">
                        <a:buNone/>
                      </a:pPr>
                      <a:r>
                        <a:rPr lang="en-US" sz="1100" dirty="0">
                          <a:solidFill>
                            <a:srgbClr val="4A4F68"/>
                          </a:solidFill>
                        </a:rPr>
                        <a:t>[Proof: review, stat, demo]</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4A4F68"/>
                          </a:solidFill>
                        </a:rPr>
                        <a:t>30–40s</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c>
                  <a:txBody>
                    <a:bodyPr/>
                    <a:lstStyle/>
                    <a:p>
                      <a:pPr indent="0" marL="0">
                        <a:buNone/>
                      </a:pPr>
                      <a:r>
                        <a:rPr lang="en-US" sz="1100" dirty="0">
                          <a:solidFill>
                            <a:srgbClr val="4A4F68"/>
                          </a:solidFill>
                        </a:rPr>
                        <a:t>[...]</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c>
                  <a:txBody>
                    <a:bodyPr/>
                    <a:lstStyle/>
                    <a:p>
                      <a:pPr indent="0" marL="0">
                        <a:buNone/>
                      </a:pPr>
                      <a:r>
                        <a:rPr lang="en-US" sz="1100" dirty="0">
                          <a:solidFill>
                            <a:srgbClr val="4A4F68"/>
                          </a:solidFill>
                        </a:rPr>
                        <a:t>[Offer + call to action]</a:t>
                      </a:r>
                      <a:endParaRPr lang="en-US" sz="1100" dirty="0"/>
                    </a:p>
                  </a:txBody>
                  <a:tcPr marL="91440" marR="91440" marT="45720" marB="45720" anchor="ctr">
                    <a:lnL w="6350" cap="flat" cmpd="sng" algn="ctr">
                      <a:solidFill>
                        <a:srgbClr val="E1E3EC"/>
                      </a:solidFill>
                      <a:prstDash val="solid"/>
                      <a:round/>
                      <a:headEnd type="none" w="med" len="med"/>
                      <a:tailEnd type="none" w="med" len="med"/>
                    </a:lnL>
                    <a:lnR w="6350" cap="flat" cmpd="sng" algn="ctr">
                      <a:solidFill>
                        <a:srgbClr val="E1E3EC"/>
                      </a:solidFill>
                      <a:prstDash val="solid"/>
                      <a:round/>
                      <a:headEnd type="none" w="med" len="med"/>
                      <a:tailEnd type="none" w="med" len="med"/>
                    </a:lnR>
                    <a:lnT w="6350" cap="flat" cmpd="sng" algn="ctr">
                      <a:solidFill>
                        <a:srgbClr val="E1E3EC"/>
                      </a:solidFill>
                      <a:prstDash val="solid"/>
                      <a:round/>
                      <a:headEnd type="none" w="med" len="med"/>
                      <a:tailEnd type="none" w="med" len="med"/>
                    </a:lnT>
                    <a:lnB w="6350" cap="flat" cmpd="sng" algn="ctr">
                      <a:solidFill>
                        <a:srgbClr val="E1E3EC"/>
                      </a:solidFill>
                      <a:prstDash val="solid"/>
                      <a:round/>
                      <a:headEnd type="none" w="med" len="med"/>
                      <a:tailEnd type="none" w="med" len="med"/>
                    </a:lnB>
                    <a:solidFill>
                      <a:srgbClr val="F1F2F7"/>
                    </a:solidFill>
                  </a:tcPr>
                </a:tc>
              </a:tr>
            </a:tbl>
          </a:graphicData>
        </a:graphic>
      </p:graphicFrame>
      <p:sp>
        <p:nvSpPr>
          <p:cNvPr id="5" name="Brief card"/>
          <p:cNvSpPr/>
          <p:nvPr/>
        </p:nvSpPr>
        <p:spPr>
          <a:xfrm>
            <a:off x="6355080" y="1280160"/>
            <a:ext cx="2331720" cy="3291840"/>
          </a:xfrm>
          <a:prstGeom prst="roundRect">
            <a:avLst>
              <a:gd name="adj" fmla="val 3137"/>
            </a:avLst>
          </a:prstGeom>
          <a:solidFill>
            <a:schemeClr val="bg2"/>
          </a:solidFill>
          <a:ln w="12700">
            <a:solidFill>
              <a:schemeClr val="bg2"/>
            </a:solidFill>
            <a:prstDash val="solid"/>
          </a:ln>
        </p:spPr>
      </p:sp>
      <p:sp>
        <p:nvSpPr>
          <p:cNvPr id="6" name="Brief notes"/>
          <p:cNvSpPr txBox="1"/>
          <p:nvPr/>
        </p:nvSpPr>
        <p:spPr>
          <a:xfrm>
            <a:off x="6537960" y="1463040"/>
            <a:ext cx="1965960" cy="292608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Brief</a:t>
            </a:r>
            <a:endParaRPr lang="en-US" sz="1100" dirty="0"/>
          </a:p>
          <a:p>
            <a:pPr indent="0" marL="0">
              <a:spcAft>
                <a:spcPts val="600"/>
              </a:spcAft>
              <a:buNone/>
            </a:pPr>
            <a:r>
              <a:rPr lang="en-US" sz="1100" dirty="0">
                <a:solidFill>
                  <a:schemeClr val="tx2"/>
                </a:solidFill>
              </a:rPr>
              <a:t>Creator: [type]</a:t>
            </a:r>
            <a:endParaRPr lang="en-US" sz="1100" dirty="0"/>
          </a:p>
          <a:p>
            <a:pPr indent="0" marL="0">
              <a:spcAft>
                <a:spcPts val="600"/>
              </a:spcAft>
              <a:buNone/>
            </a:pPr>
            <a:r>
              <a:rPr lang="en-US" sz="1100" dirty="0">
                <a:solidFill>
                  <a:schemeClr val="tx2"/>
                </a:solidFill>
              </a:rPr>
              <a:t>Length: [30–45s]</a:t>
            </a:r>
            <a:endParaRPr lang="en-US" sz="1100" dirty="0"/>
          </a:p>
          <a:p>
            <a:pPr indent="0" marL="0">
              <a:spcAft>
                <a:spcPts val="600"/>
              </a:spcAft>
              <a:buNone/>
            </a:pPr>
            <a:r>
              <a:rPr lang="en-US" sz="1100" dirty="0">
                <a:solidFill>
                  <a:schemeClr val="tx2"/>
                </a:solidFill>
              </a:rPr>
              <a:t>Placement: [Reels / Feed]</a:t>
            </a:r>
            <a:endParaRPr lang="en-US" sz="1100" dirty="0"/>
          </a:p>
          <a:p>
            <a:pPr indent="0" marL="0">
              <a:spcAft>
                <a:spcPts val="600"/>
              </a:spcAft>
              <a:buNone/>
            </a:pPr>
            <a:r>
              <a:rPr lang="en-US" sz="1100" dirty="0">
                <a:solidFill>
                  <a:schemeClr val="tx2"/>
                </a:solidFill>
              </a:rPr>
              <a:t>Must show: [product use]</a:t>
            </a:r>
            <a:endParaRPr lang="en-US" sz="1100" dirty="0"/>
          </a:p>
          <a:p>
            <a:pPr indent="0" marL="0">
              <a:spcAft>
                <a:spcPts val="600"/>
              </a:spcAft>
              <a:buNone/>
            </a:pPr>
            <a:r>
              <a:rPr lang="en-US" sz="1100" dirty="0">
                <a:solidFill>
                  <a:schemeClr val="tx2"/>
                </a:solidFill>
              </a:rPr>
              <a:t>Avoid: [claims to avoid]</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74320"/>
          </a:xfrm>
          <a:prstGeom prst="rect">
            <a:avLst/>
          </a:prstGeom>
          <a:noFill/>
          <a:ln/>
        </p:spPr>
        <p:txBody>
          <a:bodyPr wrap="square" lIns="0" tIns="0" rIns="0" bIns="0" rtlCol="0"/>
          <a:lstStyle/>
          <a:p>
            <a:pPr indent="0" marL="0">
              <a:buNone/>
            </a:pPr>
            <a:r>
              <a:rPr lang="en-US" sz="1100" b="1" spc="200" kern="0" dirty="0">
                <a:solidFill>
                  <a:schemeClr val="accent1"/>
                </a:solidFill>
              </a:rPr>
              <a:t>COMPLIANCE NOTE (HEALTH BRANDS)</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Keeping these ads approvable</a:t>
            </a:r>
            <a:endParaRPr lang="en-US" sz="2600" dirty="0"/>
          </a:p>
        </p:txBody>
      </p:sp>
      <p:sp>
        <p:nvSpPr>
          <p:cNvPr id="4" name="Compliance 1"/>
          <p:cNvSpPr/>
          <p:nvPr/>
        </p:nvSpPr>
        <p:spPr>
          <a:xfrm>
            <a:off x="457200" y="1325880"/>
            <a:ext cx="8229600" cy="914400"/>
          </a:xfrm>
          <a:prstGeom prst="roundRect">
            <a:avLst>
              <a:gd name="adj" fmla="val 8000"/>
            </a:avLst>
          </a:prstGeom>
          <a:solidFill>
            <a:srgbClr val="F1F2F7"/>
          </a:solidFill>
          <a:ln w="12700">
            <a:solidFill>
              <a:srgbClr val="F1F2F7"/>
            </a:solidFill>
            <a:prstDash val="solid"/>
          </a:ln>
        </p:spPr>
      </p:sp>
      <p:sp>
        <p:nvSpPr>
          <p:cNvPr id="5" name="Compliance 1 label"/>
          <p:cNvSpPr txBox="1"/>
          <p:nvPr/>
        </p:nvSpPr>
        <p:spPr>
          <a:xfrm>
            <a:off x="685800" y="1463040"/>
            <a:ext cx="2011680" cy="640080"/>
          </a:xfrm>
          <a:prstGeom prst="rect">
            <a:avLst/>
          </a:prstGeom>
          <a:noFill/>
          <a:ln/>
        </p:spPr>
        <p:txBody>
          <a:bodyPr wrap="square" lIns="0" tIns="0" rIns="0" bIns="0" rtlCol="0" anchor="ctr"/>
          <a:lstStyle/>
          <a:p>
            <a:pPr indent="0" marL="0">
              <a:buNone/>
            </a:pPr>
            <a:r>
              <a:rPr lang="en-US" sz="1400" b="1" dirty="0">
                <a:solidFill>
                  <a:schemeClr val="accent4"/>
                </a:solidFill>
              </a:rPr>
              <a:t>Avoid</a:t>
            </a:r>
            <a:endParaRPr lang="en-US" sz="1400" dirty="0"/>
          </a:p>
        </p:txBody>
      </p:sp>
      <p:sp>
        <p:nvSpPr>
          <p:cNvPr id="6" name="Compliance 1 text"/>
          <p:cNvSpPr txBox="1"/>
          <p:nvPr/>
        </p:nvSpPr>
        <p:spPr>
          <a:xfrm>
            <a:off x="2743200" y="1463040"/>
            <a:ext cx="5715000" cy="640080"/>
          </a:xfrm>
          <a:prstGeom prst="rect">
            <a:avLst/>
          </a:prstGeom>
          <a:noFill/>
          <a:ln/>
        </p:spPr>
        <p:txBody>
          <a:bodyPr wrap="square" lIns="0" tIns="0" rIns="0" bIns="0" rtlCol="0" anchor="ctr"/>
          <a:lstStyle/>
          <a:p>
            <a:pPr indent="0" marL="0">
              <a:buNone/>
            </a:pPr>
            <a:r>
              <a:rPr lang="en-US" sz="1200" dirty="0">
                <a:solidFill>
                  <a:schemeClr val="tx2"/>
                </a:solidFill>
              </a:rPr>
              <a:t>Claims to treat, cure or prevent conditions; 'you' statements about the viewer's health; exaggerated before/after.</a:t>
            </a:r>
            <a:endParaRPr lang="en-US" sz="1200" dirty="0"/>
          </a:p>
        </p:txBody>
      </p:sp>
      <p:sp>
        <p:nvSpPr>
          <p:cNvPr id="7" name="Compliance 2"/>
          <p:cNvSpPr/>
          <p:nvPr/>
        </p:nvSpPr>
        <p:spPr>
          <a:xfrm>
            <a:off x="457200" y="2423160"/>
            <a:ext cx="8229600" cy="914400"/>
          </a:xfrm>
          <a:prstGeom prst="roundRect">
            <a:avLst>
              <a:gd name="adj" fmla="val 8000"/>
            </a:avLst>
          </a:prstGeom>
          <a:solidFill>
            <a:srgbClr val="F1F2F7"/>
          </a:solidFill>
          <a:ln w="12700">
            <a:solidFill>
              <a:srgbClr val="F1F2F7"/>
            </a:solidFill>
            <a:prstDash val="solid"/>
          </a:ln>
        </p:spPr>
      </p:sp>
      <p:sp>
        <p:nvSpPr>
          <p:cNvPr id="8" name="Compliance 2 label"/>
          <p:cNvSpPr txBox="1"/>
          <p:nvPr/>
        </p:nvSpPr>
        <p:spPr>
          <a:xfrm>
            <a:off x="685800" y="2560320"/>
            <a:ext cx="2011680" cy="640080"/>
          </a:xfrm>
          <a:prstGeom prst="rect">
            <a:avLst/>
          </a:prstGeom>
          <a:noFill/>
          <a:ln/>
        </p:spPr>
        <p:txBody>
          <a:bodyPr wrap="square" lIns="0" tIns="0" rIns="0" bIns="0" rtlCol="0" anchor="ctr"/>
          <a:lstStyle/>
          <a:p>
            <a:pPr indent="0" marL="0">
              <a:buNone/>
            </a:pPr>
            <a:r>
              <a:rPr lang="en-US" sz="1400" b="1" dirty="0">
                <a:solidFill>
                  <a:schemeClr val="accent3"/>
                </a:solidFill>
              </a:rPr>
              <a:t>Use instead</a:t>
            </a:r>
            <a:endParaRPr lang="en-US" sz="1400" dirty="0"/>
          </a:p>
        </p:txBody>
      </p:sp>
      <p:sp>
        <p:nvSpPr>
          <p:cNvPr id="9" name="Compliance 2 text"/>
          <p:cNvSpPr txBox="1"/>
          <p:nvPr/>
        </p:nvSpPr>
        <p:spPr>
          <a:xfrm>
            <a:off x="2743200" y="2560320"/>
            <a:ext cx="5715000" cy="640080"/>
          </a:xfrm>
          <a:prstGeom prst="rect">
            <a:avLst/>
          </a:prstGeom>
          <a:noFill/>
          <a:ln/>
        </p:spPr>
        <p:txBody>
          <a:bodyPr wrap="square" lIns="0" tIns="0" rIns="0" bIns="0" rtlCol="0" anchor="ctr"/>
          <a:lstStyle/>
          <a:p>
            <a:pPr indent="0" marL="0">
              <a:buNone/>
            </a:pPr>
            <a:r>
              <a:rPr lang="en-US" sz="1200" dirty="0">
                <a:solidFill>
                  <a:schemeClr val="tx2"/>
                </a:solidFill>
              </a:rPr>
              <a:t>Support/feel language, customer stories, mechanism explained simply, third-party proof.</a:t>
            </a:r>
            <a:endParaRPr lang="en-US" sz="1200" dirty="0"/>
          </a:p>
        </p:txBody>
      </p:sp>
      <p:sp>
        <p:nvSpPr>
          <p:cNvPr id="10" name="Compliance 3"/>
          <p:cNvSpPr/>
          <p:nvPr/>
        </p:nvSpPr>
        <p:spPr>
          <a:xfrm>
            <a:off x="457200" y="3520440"/>
            <a:ext cx="8229600" cy="914400"/>
          </a:xfrm>
          <a:prstGeom prst="roundRect">
            <a:avLst>
              <a:gd name="adj" fmla="val 8000"/>
            </a:avLst>
          </a:prstGeom>
          <a:solidFill>
            <a:srgbClr val="FFD8CF"/>
          </a:solidFill>
          <a:ln w="12700">
            <a:solidFill>
              <a:srgbClr val="FFD8CF"/>
            </a:solidFill>
            <a:prstDash val="solid"/>
          </a:ln>
        </p:spPr>
      </p:sp>
      <p:sp>
        <p:nvSpPr>
          <p:cNvPr id="11" name="Compliance 3 label"/>
          <p:cNvSpPr txBox="1"/>
          <p:nvPr/>
        </p:nvSpPr>
        <p:spPr>
          <a:xfrm>
            <a:off x="685800" y="3657600"/>
            <a:ext cx="2011680" cy="640080"/>
          </a:xfrm>
          <a:prstGeom prst="rect">
            <a:avLst/>
          </a:prstGeom>
          <a:noFill/>
          <a:ln/>
        </p:spPr>
        <p:txBody>
          <a:bodyPr wrap="square" lIns="0" tIns="0" rIns="0" bIns="0" rtlCol="0" anchor="ctr"/>
          <a:lstStyle/>
          <a:p>
            <a:pPr indent="0" marL="0">
              <a:buNone/>
            </a:pPr>
            <a:r>
              <a:rPr lang="en-US" sz="1400" b="1" dirty="0">
                <a:solidFill>
                  <a:schemeClr val="tx1"/>
                </a:solidFill>
              </a:rPr>
              <a:t>Spotted in current ads</a:t>
            </a:r>
            <a:endParaRPr lang="en-US" sz="1400" dirty="0"/>
          </a:p>
        </p:txBody>
      </p:sp>
      <p:sp>
        <p:nvSpPr>
          <p:cNvPr id="12" name="Compliance 3 text"/>
          <p:cNvSpPr txBox="1"/>
          <p:nvPr/>
        </p:nvSpPr>
        <p:spPr>
          <a:xfrm>
            <a:off x="2743200" y="3657600"/>
            <a:ext cx="5715000" cy="640080"/>
          </a:xfrm>
          <a:prstGeom prst="rect">
            <a:avLst/>
          </a:prstGeom>
          <a:noFill/>
          <a:ln/>
        </p:spPr>
        <p:txBody>
          <a:bodyPr wrap="square" lIns="0" tIns="0" rIns="0" bIns="0" rtlCol="0" anchor="ctr"/>
          <a:lstStyle/>
          <a:p>
            <a:pPr indent="0" marL="0">
              <a:buNone/>
            </a:pPr>
            <a:r>
              <a:rPr lang="en-US" sz="1200" dirty="0">
                <a:solidFill>
                  <a:schemeClr val="tx2"/>
                </a:solidFill>
              </a:rPr>
              <a:t>[Any risky claims you noticed, said politely. Or delete this row.]</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8046720" cy="320040"/>
          </a:xfrm>
          <a:prstGeom prst="rect">
            <a:avLst/>
          </a:prstGeom>
          <a:noFill/>
          <a:ln/>
        </p:spPr>
        <p:txBody>
          <a:bodyPr wrap="square" rtlCol="0"/>
          <a:lstStyle/>
          <a:p>
            <a:pPr indent="0" marL="0">
              <a:buNone/>
            </a:pPr>
            <a:r>
              <a:rPr lang="en-US" sz="1200" b="1" spc="200" kern="0" dirty="0">
                <a:solidFill>
                  <a:schemeClr val="accent1"/>
                </a:solidFill>
              </a:rPr>
              <a:t>ABOUT ME</a:t>
            </a:r>
            <a:endParaRPr lang="en-US" sz="1200" dirty="0"/>
          </a:p>
        </p:txBody>
      </p:sp>
      <p:sp>
        <p:nvSpPr>
          <p:cNvPr id="3" name="Text 0"/>
          <p:cNvSpPr/>
          <p:nvPr>
            <p:ph idx="101" type="title" hasCustomPrompt="1"/>
          </p:nvPr>
        </p:nvSpPr>
        <p:spPr>
          <a:xfrm>
            <a:off x="548640" y="868680"/>
            <a:ext cx="8046720" cy="731520"/>
          </a:xfrm>
          <a:prstGeom prst="rect">
            <a:avLst/>
          </a:prstGeom>
          <a:noFill/>
          <a:ln/>
        </p:spPr>
        <p:txBody>
          <a:bodyPr wrap="square" rtlCol="0" anchor="t"/>
          <a:lstStyle/>
          <a:p>
            <a:pPr algn="l" indent="0" marL="0">
              <a:buNone/>
            </a:pPr>
            <a:r>
              <a:rPr lang="en-US" sz="3000" b="1" dirty="0">
                <a:solidFill>
                  <a:schemeClr val="bg1"/>
                </a:solidFill>
              </a:rPr>
              <a:t>[Your Name]</a:t>
            </a:r>
            <a:endParaRPr lang="en-US" sz="3000" dirty="0"/>
          </a:p>
        </p:txBody>
      </p:sp>
      <p:sp>
        <p:nvSpPr>
          <p:cNvPr id="4" name="Stat 1 number"/>
          <p:cNvSpPr txBox="1"/>
          <p:nvPr/>
        </p:nvSpPr>
        <p:spPr>
          <a:xfrm>
            <a:off x="548640" y="1828800"/>
            <a:ext cx="2560320" cy="685800"/>
          </a:xfrm>
          <a:prstGeom prst="rect">
            <a:avLst/>
          </a:prstGeom>
          <a:noFill/>
          <a:ln/>
        </p:spPr>
        <p:txBody>
          <a:bodyPr wrap="square" lIns="0" tIns="0" rIns="0" bIns="0" rtlCol="0" anchor="t"/>
          <a:lstStyle/>
          <a:p>
            <a:pPr indent="0" marL="0">
              <a:buNone/>
            </a:pPr>
            <a:r>
              <a:rPr lang="en-US" sz="3200" b="1" dirty="0">
                <a:solidFill>
                  <a:schemeClr val="accent1"/>
                </a:solidFill>
              </a:rPr>
              <a:t>7 figures</a:t>
            </a:r>
            <a:endParaRPr lang="en-US" sz="3200" dirty="0"/>
          </a:p>
        </p:txBody>
      </p:sp>
      <p:sp>
        <p:nvSpPr>
          <p:cNvPr id="5" name="Stat 1 label"/>
          <p:cNvSpPr txBox="1"/>
          <p:nvPr/>
        </p:nvSpPr>
        <p:spPr>
          <a:xfrm>
            <a:off x="548640" y="2514600"/>
            <a:ext cx="2468880" cy="548640"/>
          </a:xfrm>
          <a:prstGeom prst="rect">
            <a:avLst/>
          </a:prstGeom>
          <a:noFill/>
          <a:ln/>
        </p:spPr>
        <p:txBody>
          <a:bodyPr wrap="square" lIns="0" tIns="0" rIns="0" bIns="0" rtlCol="0" anchor="t"/>
          <a:lstStyle/>
          <a:p>
            <a:pPr indent="0" marL="0">
              <a:buNone/>
            </a:pPr>
            <a:r>
              <a:rPr lang="en-US" sz="1300" dirty="0">
                <a:solidFill>
                  <a:schemeClr val="bg1"/>
                </a:solidFill>
              </a:rPr>
              <a:t>in revenue from my ad scripts</a:t>
            </a:r>
            <a:endParaRPr lang="en-US" sz="1300" dirty="0"/>
          </a:p>
        </p:txBody>
      </p:sp>
      <p:sp>
        <p:nvSpPr>
          <p:cNvPr id="6" name="Stat 2 number"/>
          <p:cNvSpPr txBox="1"/>
          <p:nvPr/>
        </p:nvSpPr>
        <p:spPr>
          <a:xfrm>
            <a:off x="3291840" y="1828800"/>
            <a:ext cx="2560320" cy="685800"/>
          </a:xfrm>
          <a:prstGeom prst="rect">
            <a:avLst/>
          </a:prstGeom>
          <a:noFill/>
          <a:ln/>
        </p:spPr>
        <p:txBody>
          <a:bodyPr wrap="square" lIns="0" tIns="0" rIns="0" bIns="0" rtlCol="0" anchor="t"/>
          <a:lstStyle/>
          <a:p>
            <a:pPr indent="0" marL="0">
              <a:buNone/>
            </a:pPr>
            <a:r>
              <a:rPr lang="en-US" sz="3200" b="1" dirty="0">
                <a:solidFill>
                  <a:schemeClr val="accent1"/>
                </a:solidFill>
              </a:rPr>
              <a:t>3+ years</a:t>
            </a:r>
            <a:endParaRPr lang="en-US" sz="3200" dirty="0"/>
          </a:p>
        </p:txBody>
      </p:sp>
      <p:sp>
        <p:nvSpPr>
          <p:cNvPr id="7" name="Stat 2 label"/>
          <p:cNvSpPr txBox="1"/>
          <p:nvPr/>
        </p:nvSpPr>
        <p:spPr>
          <a:xfrm>
            <a:off x="3291840" y="2514600"/>
            <a:ext cx="2468880" cy="548640"/>
          </a:xfrm>
          <a:prstGeom prst="rect">
            <a:avLst/>
          </a:prstGeom>
          <a:noFill/>
          <a:ln/>
        </p:spPr>
        <p:txBody>
          <a:bodyPr wrap="square" lIns="0" tIns="0" rIns="0" bIns="0" rtlCol="0" anchor="t"/>
          <a:lstStyle/>
          <a:p>
            <a:pPr indent="0" marL="0">
              <a:buNone/>
            </a:pPr>
            <a:r>
              <a:rPr lang="en-US" sz="1300" dirty="0">
                <a:solidFill>
                  <a:schemeClr val="bg1"/>
                </a:solidFill>
              </a:rPr>
              <a:t>my ads held the top 3 spots</a:t>
            </a:r>
            <a:endParaRPr lang="en-US" sz="1300" dirty="0"/>
          </a:p>
        </p:txBody>
      </p:sp>
      <p:sp>
        <p:nvSpPr>
          <p:cNvPr id="8" name="Stat 3 number"/>
          <p:cNvSpPr txBox="1"/>
          <p:nvPr/>
        </p:nvSpPr>
        <p:spPr>
          <a:xfrm>
            <a:off x="6035040" y="1828800"/>
            <a:ext cx="2560320" cy="685800"/>
          </a:xfrm>
          <a:prstGeom prst="rect">
            <a:avLst/>
          </a:prstGeom>
          <a:noFill/>
          <a:ln/>
        </p:spPr>
        <p:txBody>
          <a:bodyPr wrap="square" lIns="0" tIns="0" rIns="0" bIns="0" rtlCol="0" anchor="t"/>
          <a:lstStyle/>
          <a:p>
            <a:pPr indent="0" marL="0">
              <a:buNone/>
            </a:pPr>
            <a:r>
              <a:rPr lang="en-US" sz="3200" b="1" dirty="0">
                <a:solidFill>
                  <a:schemeClr val="accent1"/>
                </a:solidFill>
              </a:rPr>
              <a:t>2 agencies</a:t>
            </a:r>
            <a:endParaRPr lang="en-US" sz="3200" dirty="0"/>
          </a:p>
        </p:txBody>
      </p:sp>
      <p:sp>
        <p:nvSpPr>
          <p:cNvPr id="9" name="Stat 3 label"/>
          <p:cNvSpPr txBox="1"/>
          <p:nvPr/>
        </p:nvSpPr>
        <p:spPr>
          <a:xfrm>
            <a:off x="6035040" y="2514600"/>
            <a:ext cx="2468880" cy="548640"/>
          </a:xfrm>
          <a:prstGeom prst="rect">
            <a:avLst/>
          </a:prstGeom>
          <a:noFill/>
          <a:ln/>
        </p:spPr>
        <p:txBody>
          <a:bodyPr wrap="square" lIns="0" tIns="0" rIns="0" bIns="0" rtlCol="0" anchor="t"/>
          <a:lstStyle/>
          <a:p>
            <a:pPr indent="0" marL="0">
              <a:buNone/>
            </a:pPr>
            <a:r>
              <a:rPr lang="en-US" sz="1300" dirty="0">
                <a:solidFill>
                  <a:schemeClr val="bg1"/>
                </a:solidFill>
              </a:rPr>
              <a:t>whose scripts mine beat</a:t>
            </a:r>
            <a:endParaRPr lang="en-US" sz="1300" dirty="0"/>
          </a:p>
        </p:txBody>
      </p:sp>
      <p:sp>
        <p:nvSpPr>
          <p:cNvPr id="10" name="Next step"/>
          <p:cNvSpPr txBox="1"/>
          <p:nvPr/>
        </p:nvSpPr>
        <p:spPr>
          <a:xfrm>
            <a:off x="548640" y="3520440"/>
            <a:ext cx="8046720" cy="548640"/>
          </a:xfrm>
          <a:prstGeom prst="rect">
            <a:avLst/>
          </a:prstGeom>
          <a:noFill/>
          <a:ln/>
        </p:spPr>
        <p:txBody>
          <a:bodyPr wrap="square" lIns="0" tIns="0" rIns="0" bIns="0" rtlCol="0" anchor="t"/>
          <a:lstStyle/>
          <a:p>
            <a:pPr indent="0" marL="0">
              <a:buNone/>
            </a:pPr>
            <a:r>
              <a:rPr lang="en-US" sz="1500" dirty="0">
                <a:solidFill>
                  <a:schemeClr val="bg1"/>
                </a:solidFill>
              </a:rPr>
              <a:t>Want the full scripts and briefs for concepts 2 and 3? Reply to my message and I'll send them over.</a:t>
            </a:r>
            <a:endParaRPr lang="en-US" sz="1500" dirty="0"/>
          </a:p>
        </p:txBody>
      </p:sp>
      <p:sp>
        <p:nvSpPr>
          <p:cNvPr id="11" name="Contact"/>
          <p:cNvSpPr txBox="1"/>
          <p:nvPr/>
        </p:nvSpPr>
        <p:spPr>
          <a:xfrm>
            <a:off x="548640" y="4206240"/>
            <a:ext cx="8046720" cy="320040"/>
          </a:xfrm>
          <a:prstGeom prst="rect">
            <a:avLst/>
          </a:prstGeom>
          <a:noFill/>
          <a:ln/>
        </p:spPr>
        <p:txBody>
          <a:bodyPr wrap="square" lIns="0" tIns="0" rIns="0" bIns="0" rtlCol="0" anchor="t"/>
          <a:lstStyle/>
          <a:p>
            <a:pPr indent="0" marL="0">
              <a:buNone/>
            </a:pPr>
            <a:r>
              <a:rPr lang="en-US" sz="1200" dirty="0">
                <a:solidFill>
                  <a:schemeClr val="accent5"/>
                </a:solidFill>
              </a:rPr>
              <a:t>[email]  ·  [website or portfolio link]</a:t>
            </a:r>
            <a:endParaRPr lang="en-US" sz="1200" dirty="0"/>
          </a:p>
        </p:txBody>
      </p:sp>
    </p:spTree>
  </p:cSld>
  <p:clrMapOvr>
    <a:masterClrMapping/>
  </p:clrMapOvr>
</p:sld>
</file>

<file path=ppt/theme/theme1.xml><?xml version="1.0" encoding="utf-8"?>
<a:theme xmlns:a="http://schemas.openxmlformats.org/drawingml/2006/main" name="Creative Audit">
  <a:themeElements>
    <a:clrScheme name="Creative Audit">
      <a:dk1>
        <a:srgbClr val="16192B"/>
      </a:dk1>
      <a:lt1>
        <a:srgbClr val="FFFFFF"/>
      </a:lt1>
      <a:dk2>
        <a:srgbClr val="4A4F68"/>
      </a:dk2>
      <a:lt2>
        <a:srgbClr val="F1F2F7"/>
      </a:lt2>
      <a:accent1>
        <a:srgbClr val="FF5A3C"/>
      </a:accent1>
      <a:accent2>
        <a:srgbClr val="16192B"/>
      </a:accent2>
      <a:accent3>
        <a:srgbClr val="2BB673"/>
      </a:accent3>
      <a:accent4>
        <a:srgbClr val="E5484D"/>
      </a:accent4>
      <a:accent5>
        <a:srgbClr val="8A8FA8"/>
      </a:accent5>
      <a:accent6>
        <a:srgbClr val="FFD8CF"/>
      </a:accent6>
      <a:hlink>
        <a:srgbClr val="FF5A3C"/>
      </a:hlink>
      <a:folHlink>
        <a:srgbClr val="4A4F68"/>
      </a:folHlink>
    </a:clrScheme>
    <a:fontScheme name="Creative Audi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Creative Audit Template</dc:title>
  <dc:subject>PptxGenJS Presentation</dc:subject>
  <dc:creator>[Your Name]</dc:creator>
  <cp:lastModifiedBy>[Your Name]</cp:lastModifiedBy>
  <cp:revision>1</cp:revision>
  <dcterms:created xsi:type="dcterms:W3CDTF">2026-10-10T00:42:55Z</dcterms:created>
  <dcterms:modified xsi:type="dcterms:W3CDTF">2026-10-10T00:42:55Z</dcterms:modified>
</cp:coreProperties>
</file>